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6dd1dc9f-158c-e63a-af14-832d1264b02b}">
          <p14:sldIdLst>
            <p14:sldId id="256"/>
            <p14:sldId id="257"/>
            <p14:sldId id="258"/>
          </p14:sldIdLst>
        </p14:section>
        <p14:section name="How it works" id="{e7c1cf23-6818-43da-83a9-258fc548ab65}">
          <p14:sldIdLst>
            <p14:sldId id="259"/>
            <p14:sldId id="260"/>
          </p14:sldIdLst>
        </p14:section>
        <p14:section name="Curriculum and limits" id="{e5bdb138-b613-57df-c601-d2aba8df689e}">
          <p14:sldIdLst>
            <p14:sldId id="261"/>
            <p14:sldId id="262"/>
          </p14:sldIdLst>
        </p14:section>
        <p14:section name="Trying it" id="{90311bfa-5009-fbcc-7d81-df595be033bb}">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short brief about Ticali Trio, a practice game I made at home for my three children, who are in kindergarten, 3rd grade and 5th grade at Anne Arundel County Public Schools. It covers what the game is, what it is for, where its content came from, its limits, and how to try it. It is not an AACPS product, and I am sharing it for your information and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Ticali Trio is a learning game I made for my three children. It practices this year's grade-level work in the programs AACPS uses, Amplify CKLA for reading and Reveal Math for math, explains why each answer is right, and shows those programs' methods when a child is stuck. It is a single HTML file that opens in a web browser on a laptop or desktop, with no internet connection, account or sign-in needed, and no ads, tracking or purchases. It has not been reviewed or endorsed by AACPS or its teachers. The figures are counted from the game itself: 237 topic packs from kindergarten to 5th grade; more than 10,400 written questions, each with its own explanation and step-by-step coaching, and a hint wherever a second try is offered; 780 thinking puzzles; 11 packs of math generated fresh every round; and a Reading Road of 11 lands and 40 stops with 251 story pages and 440 questions. The screenshots in this brief come from the game, using a sample save made for the pictures, not the children's real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game has six aims. First, practice this year's work, with last year's kept for review and every grade from kindergarten to 5th one tap away. Second, understanding rather than just answering: every answer, right or wrong, is followed by an explanation, and on most question types a wrong answer gets a hint and one more try. Third, learning it the way the programs teach it: SHOW ME HOW walks through the method Reveal Math or CKLA teaches, step by step, using the question's own numbers and words. Fourth, thinking rather than guessing, with puzzle formats like those on Maryland's new MSTAR tests. Fifth, growing readers through the Reading Road and read-aloud in kindergarten and 1st grade: the Road's first five stops read their stories to the child, and after that each story uses only what the Road has taught so far. Sixth, keeping it fun and kind: levels, trophies, a buddy, stickers that teach a fact, daily missions with a day streak, boss battles, sprints against the child's own best and a family goal. Siblings are never ranked against each other, a pack is a round of ten questions, a wrong answer never takes progress away, and a missed day only starts a new day streak; the best streak is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pack is a round of ten questions on one topic, and it opens with a short card on why the topic matters. After any answer, right or wrong, HERE'S WHY explains it. After a wrong answer, THINK AGAIN gives a hint and one more try, on every question type except true or false and two-part questions; a parent can switch second tries off for test-style practice. At any time, SHOW ME HOW walks through the method Reveal Math or CKLA teaches, step by step, with the question's own numbers and words, then hands the question back. Every one of the more than 10,400 written questions has its own coaching steps, and math questions generated each round build theirs from their own numbers. Question types include multiple choice, true or false, typing the answer, fill in the blank, show your work on paper, and four puzzle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kindergarten and 1st grade packs, every question, answer choice, puzzle piece, sort group and story has a speaker button, and the kindergartener's questions read themselves aloud (AUTO turns this on for any child), so a child who cannot read yet can play without a grown-up reading to them. In kindergarten and 1st grade, answer tiles are numbered 1 to 4, the numbers the voice names, except where the answers are themselves numbers. Letter sounds are read as sounds, never letter names, in the most natural voice the device offers. One limit: when the voice sounds out a word for blending, it says the short sounds /k/ and /t/ as kuh and tuh, because a speech engine cannot say them short. The written explanations give a key word instead, and a grown-up can model the short sounds. The Reading Road is a map from first letter sounds to comprehension, in the order Amplify CKLA teaches the sounds: 11 lands and 40 stops, with 251 story pages and 440 questions. Each stop teaches one piece of the code (or one comprehension skill) with learn cards, then gives a short story (read to the child in the first five stops; after that, one the child reads with only what the Road has taught so far, checked word by word), then practice games and questions about the story. The kindergartener starts at the first stop, the 3rd grader at Big Word Bay and the 5th grader at Detective Island, and every earlier stop stays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and writing follow Amplify CKLA, which AACPS uses in K-5; the reading packs follow each grade's CKLA units in the 2nd edition, and phonics follows the CKLA Skills sequence. Math follows McGraw Hill Reveal Math, which AACPS uses in K-5, and Maryland's revised math standards, adopted in July 2025 and in effect this school year. SHOW ME HOW uses Reveal Math's strategies grade by grade and CKLA's reading routines. Science follows Maryland's NGSS-based standards. Because the grade 5 science test, MISA, covers grades 3 to 5, the 5th grader keeps 4th grade science on hand. Social studies follows Maryland's framework, revised in 2025. The puzzle questions practice formats similar to those on MSTAR, which replaces MCAP for grades 3 to 8 reading and math from spring 2027. Health packs use general elementary health content and leave out family-life topics; AACPS's health scope and sequence was not found. Questions are written to these topics; they are not tagged with standard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plain about how this was made. The questions, explanations, coaching steps and stories were written by an AI assistant at my direction, working from the official curriculum information that is publicly available. They were then checked by automated tests, which check every question's format and that every pack deals a full, explained round, and by further AI review passes that re-solved every question and were told to assume there were mistakes. The documents the AI assistant read in full, from public PDF copies that opened even though the official websites did not, were Amplify's published CKLA curriculum maps and K-5 program guide, the openly licensed Core Knowledge teacher guides CKLA is built on, McGraw Hill's published Reveal Math alignment documents for grades 3 to 5, a Reveal pacing guide from a district in another state, and an AACPS family handout on math strategies. The limits: it is not an AACPS product and has not been reviewed or endorsed by AACPS or its teachers. Nor is it a product of Amplify or McGraw Hill, the publishers of CKLA and Reveal Math, and they have not reviewed or endorsed it. The AI assistant could not open several official websites, including AACPS, MSDE, McGraw Hill and Amplify, directly while the game was built, so some details rest on search results that quote them. It did not use AACPS pacing guides, teacher editions or other licensed classroom materials. It could not be confirmed whether classrooms use the 2nd or the new 3rd edition of Amplify CKLA this year (the reading packs follow the 2nd edition's units), or how AACPS maps Reveal Math onto Maryland's revised standards. AACPS's health scope and sequence was not found, so the health packs use general elementary health content and leave out family-life topics. A question can still be wrong, and corrections are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there are no accounts and no names beyond the profile labels Kindergarten, 3rd Grade and 5th Grade. Progress is saved only in the browser on the device it is played on, and a child's answers are never sent anywhere. There are no ads, tracking or purchases. When online, the page loads its typefaces from Google Fonts, and some browsers' most natural read-aloud voices are online voices, which receive the words being read aloud: the game's own words, plus any name a 3rd or 5th grader types for their buddy. A parent can choose a voice built into the device instead. To try it: on a laptop or desktop, save the attached file Ticali_Trio_Family_Edition.html and double-click it; it opens in the web browser. If your email system held the file back, please let me know. On an iPad, an emailed or downloaded copy opens in a preview that does not run the game; an iPad runs it only from a web address, so please use a laptop or desktop. On the title screen, For grown-ups: about this game, above the three cards, explains what the game is, how it was made and its limits, and lists every grade's packs. Click a grade's card to open that child's hub, then a pack to play a round; Explore Any Grade, near the bottom of every hub, opens all of K-5. The small, faint parent link at the bottom right of the title screen opens the parent dashboard; the PIN is 0000. Anything you do stays on your own device and does not touch the children's progress at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looking at this. I am sharing the game for your information, and I would welcome any feedback, especially on how well the game matches what is taught in my children's school. If a question looks wrong, it may well be wrong, and I would be glad to correct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325880"/>
            <a:ext cx="6675120" cy="1051560"/>
          </a:xfrm>
          <a:prstGeom prst="rect">
            <a:avLst/>
          </a:prstGeom>
          <a:noFill/>
          <a:ln/>
        </p:spPr>
        <p:txBody>
          <a:bodyPr wrap="square" rtlCol="0"/>
          <a:lstStyle>
            <a:lvl1pPr algn="l" indent="0" marL="0">
              <a:buNone/>
              <a:defRPr lang="en-US" sz="5400" b="1" dirty="0">
                <a:solidFill>
                  <a:schemeClr val="bg2"/>
                </a:solidFill>
              </a:defRPr>
            </a:lvl1pPr>
          </a:lstStyle>
          <a:p>
            <a:pPr algn="l" indent="0" marL="0">
              <a:buNone/>
            </a:pPr>
            <a:endParaRPr lang="en-US" sz="5400" dirty="0"/>
          </a:p>
        </p:txBody>
      </p:sp>
      <p:sp>
        <p:nvSpPr>
          <p:cNvPr id="3" name="Text 0"/>
          <p:cNvSpPr/>
          <p:nvPr>
            <p:ph idx="101" type="body" hasCustomPrompt="1"/>
          </p:nvPr>
        </p:nvSpPr>
        <p:spPr>
          <a:xfrm>
            <a:off x="685800" y="2606040"/>
            <a:ext cx="6400800" cy="137160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
        <p:nvSpPr>
          <p:cNvPr id="4" name="Text 0"/>
          <p:cNvSpPr/>
          <p:nvPr>
            <p:ph idx="102" type="body" hasCustomPrompt="1"/>
          </p:nvPr>
        </p:nvSpPr>
        <p:spPr>
          <a:xfrm>
            <a:off x="685800" y="4526280"/>
            <a:ext cx="6400800" cy="868680"/>
          </a:xfrm>
          <a:prstGeom prst="rect">
            <a:avLst/>
          </a:prstGeom>
          <a:noFill/>
          <a:ln/>
        </p:spPr>
        <p:txBody>
          <a:bodyPr wrap="square" rtlCol="0"/>
          <a:lstStyle>
            <a:lvl1pPr algn="l" indent="0" marL="0">
              <a:buNone/>
              <a:defRPr lang="en-US" sz="1600" dirty="0">
                <a:solidFill>
                  <a:schemeClr val="accent3"/>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8229600" cy="274320"/>
          </a:xfrm>
          <a:prstGeom prst="rect">
            <a:avLst/>
          </a:prstGeom>
          <a:noFill/>
          <a:ln/>
        </p:spPr>
        <p:txBody>
          <a:bodyPr wrap="square" lIns="0" tIns="0" rIns="0" bIns="0" rtlCol="0" anchor="t"/>
          <a:lstStyle/>
          <a:p>
            <a:pPr indent="0" marL="0">
              <a:buNone/>
            </a:pPr>
            <a:r>
              <a:rPr lang="en-US" sz="1000" dirty="0">
                <a:solidFill>
                  <a:schemeClr val="tx2"/>
                </a:solidFill>
              </a:rPr>
              <a:t>Ticali Trio  ·  a brief for school leadership  ·  a family project, not an AACPS product</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325880"/>
            <a:ext cx="6766560" cy="1188720"/>
          </a:xfrm>
          <a:prstGeom prst="rect">
            <a:avLst/>
          </a:prstGeom>
          <a:noFill/>
          <a:ln/>
        </p:spPr>
        <p:txBody>
          <a:bodyPr wrap="square" rtlCol="0"/>
          <a:lstStyle>
            <a:lvl1pPr algn="l" indent="0" marL="0">
              <a:buNone/>
              <a:defRPr lang="en-US" sz="4400" b="1" dirty="0">
                <a:solidFill>
                  <a:schemeClr val="bg2"/>
                </a:solidFill>
              </a:defRPr>
            </a:lvl1pPr>
          </a:lstStyle>
          <a:p>
            <a:pPr algn="l" indent="0" marL="0">
              <a:buNone/>
            </a:pPr>
            <a:endParaRPr lang="en-US" sz="4400" dirty="0"/>
          </a:p>
        </p:txBody>
      </p:sp>
      <p:sp>
        <p:nvSpPr>
          <p:cNvPr id="3" name="Text 0"/>
          <p:cNvSpPr/>
          <p:nvPr>
            <p:ph idx="101" type="body" hasCustomPrompt="1"/>
          </p:nvPr>
        </p:nvSpPr>
        <p:spPr>
          <a:xfrm>
            <a:off x="685800" y="2743200"/>
            <a:ext cx="6400800" cy="18288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4" name="Text 0"/>
          <p:cNvSpPr/>
          <p:nvPr>
            <p:ph idx="102" type="body" hasCustomPrompt="1"/>
          </p:nvPr>
        </p:nvSpPr>
        <p:spPr>
          <a:xfrm>
            <a:off x="685800" y="5029200"/>
            <a:ext cx="6400800" cy="548640"/>
          </a:xfrm>
          <a:prstGeom prst="rect">
            <a:avLst/>
          </a:prstGeom>
          <a:noFill/>
          <a:ln/>
        </p:spPr>
        <p:txBody>
          <a:bodyPr wrap="square" rtlCol="0"/>
          <a:lstStyle>
            <a:lvl1pPr algn="l" indent="0" marL="0">
              <a:buNone/>
              <a:defRPr lang="en-US" sz="1800" dirty="0">
                <a:solidFill>
                  <a:schemeClr val="accent3"/>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85800" y="1325880"/>
            <a:ext cx="6675120" cy="1051560"/>
          </a:xfrm>
          <a:prstGeom prst="rect">
            <a:avLst/>
          </a:prstGeom>
          <a:noFill/>
          <a:ln/>
        </p:spPr>
        <p:txBody>
          <a:bodyPr wrap="square" lIns="0" tIns="0" rIns="0" bIns="0" rtlCol="0" anchor="b"/>
          <a:lstStyle/>
          <a:p>
            <a:pPr algn="l" indent="0" marL="0">
              <a:buNone/>
            </a:pPr>
            <a:r>
              <a:rPr lang="en-US" sz="5400" b="1" dirty="0">
                <a:solidFill>
                  <a:schemeClr val="bg2"/>
                </a:solidFill>
              </a:rPr>
              <a:t>Ticali Trio</a:t>
            </a:r>
            <a:endParaRPr lang="en-US" sz="5400" dirty="0"/>
          </a:p>
        </p:txBody>
      </p:sp>
      <p:sp>
        <p:nvSpPr>
          <p:cNvPr id="3" name="Text 0"/>
          <p:cNvSpPr/>
          <p:nvPr>
            <p:ph idx="101" type="body" hasCustomPrompt="1"/>
          </p:nvPr>
        </p:nvSpPr>
        <p:spPr>
          <a:xfrm>
            <a:off x="685800" y="2606040"/>
            <a:ext cx="6400800" cy="1371600"/>
          </a:xfrm>
          <a:prstGeom prst="rect">
            <a:avLst/>
          </a:prstGeom>
          <a:noFill/>
          <a:ln/>
        </p:spPr>
        <p:txBody>
          <a:bodyPr wrap="square" lIns="0" tIns="0" rIns="0" bIns="0" rtlCol="0" anchor="t"/>
          <a:lstStyle/>
          <a:p>
            <a:pPr algn="l" indent="0" marL="0">
              <a:buNone/>
            </a:pPr>
            <a:r>
              <a:rPr lang="en-US" sz="2200" dirty="0">
                <a:solidFill>
                  <a:schemeClr val="bg2"/>
                </a:solidFill>
              </a:rPr>
              <a:t>A family-made practice game for kindergarten to 5th grade, based on the reading and math programs Anne Arundel County Public Schools uses</a:t>
            </a:r>
            <a:endParaRPr lang="en-US" sz="2200" dirty="0"/>
          </a:p>
        </p:txBody>
      </p:sp>
      <p:sp>
        <p:nvSpPr>
          <p:cNvPr id="4" name="Text 0"/>
          <p:cNvSpPr/>
          <p:nvPr>
            <p:ph idx="102" type="body" hasCustomPrompt="1"/>
          </p:nvPr>
        </p:nvSpPr>
        <p:spPr>
          <a:xfrm>
            <a:off x="685800" y="4526280"/>
            <a:ext cx="6400800" cy="868680"/>
          </a:xfrm>
          <a:prstGeom prst="rect">
            <a:avLst/>
          </a:prstGeom>
          <a:noFill/>
          <a:ln/>
        </p:spPr>
        <p:txBody>
          <a:bodyPr wrap="square" lIns="0" tIns="0" rIns="0" bIns="0" rtlCol="0" anchor="t"/>
          <a:lstStyle/>
          <a:p>
            <a:pPr algn="l" indent="0" marL="0">
              <a:buNone/>
            </a:pPr>
            <a:r>
              <a:rPr lang="en-US" sz="1600" dirty="0">
                <a:solidFill>
                  <a:schemeClr val="accent3"/>
                </a:solidFill>
              </a:rPr>
              <a:t>A brief for school leadership  ·  October 2026</a:t>
            </a:r>
            <a:endParaRPr lang="en-US" sz="1600" dirty="0"/>
          </a:p>
          <a:p>
            <a:pPr algn="l" indent="0" marL="0">
              <a:buNone/>
            </a:pPr>
            <a:r>
              <a:rPr lang="en-US" sz="1600" dirty="0">
                <a:solidFill>
                  <a:schemeClr val="accent3"/>
                </a:solidFill>
              </a:rPr>
              <a:t>From [Your name], parent</a:t>
            </a:r>
            <a:endParaRPr lang="en-US" sz="1600" dirty="0"/>
          </a:p>
        </p:txBody>
      </p:sp>
      <p:sp>
        <p:nvSpPr>
          <p:cNvPr id="5" name="Grade circle K"/>
          <p:cNvSpPr/>
          <p:nvPr/>
        </p:nvSpPr>
        <p:spPr>
          <a:xfrm>
            <a:off x="8001000" y="1417320"/>
            <a:ext cx="1691640" cy="1691640"/>
          </a:xfrm>
          <a:prstGeom prst="ellipse">
            <a:avLst/>
          </a:prstGeom>
          <a:solidFill>
            <a:schemeClr val="accent4"/>
          </a:solidFill>
          <a:ln w="38100">
            <a:solidFill>
              <a:schemeClr val="bg2"/>
            </a:solidFill>
          </a:ln>
        </p:spPr>
        <p:txBody>
          <a:bodyPr wrap="square" lIns="0" tIns="0" rIns="0" bIns="0" rtlCol="0" anchor="ctr"/>
          <a:lstStyle/>
          <a:p>
            <a:pPr algn="ctr" indent="0" marL="0">
              <a:buNone/>
            </a:pPr>
            <a:r>
              <a:rPr lang="en-US" sz="3600" b="1" dirty="0">
                <a:solidFill>
                  <a:schemeClr val="bg1"/>
                </a:solidFill>
                <a:latin typeface="Cambria" pitchFamily="34" charset="0"/>
                <a:ea typeface="Cambria" pitchFamily="34" charset="-122"/>
                <a:cs typeface="Cambria" pitchFamily="34" charset="-120"/>
              </a:rPr>
              <a:t>K</a:t>
            </a:r>
            <a:endParaRPr lang="en-US" sz="3600" dirty="0"/>
          </a:p>
        </p:txBody>
      </p:sp>
      <p:sp>
        <p:nvSpPr>
          <p:cNvPr id="6" name="Grade circle 3rd"/>
          <p:cNvSpPr/>
          <p:nvPr/>
        </p:nvSpPr>
        <p:spPr>
          <a:xfrm>
            <a:off x="9921240" y="1417320"/>
            <a:ext cx="1691640" cy="1691640"/>
          </a:xfrm>
          <a:prstGeom prst="ellipse">
            <a:avLst/>
          </a:prstGeom>
          <a:solidFill>
            <a:schemeClr val="accent5"/>
          </a:solidFill>
          <a:ln w="38100">
            <a:solidFill>
              <a:schemeClr val="bg2"/>
            </a:solidFill>
          </a:ln>
        </p:spPr>
        <p:txBody>
          <a:bodyPr wrap="square" lIns="0" tIns="0" rIns="0" bIns="0" rtlCol="0" anchor="ctr"/>
          <a:lstStyle/>
          <a:p>
            <a:pPr algn="ctr" indent="0" marL="0">
              <a:buNone/>
            </a:pPr>
            <a:r>
              <a:rPr lang="en-US" sz="3600" b="1" dirty="0">
                <a:solidFill>
                  <a:schemeClr val="bg1"/>
                </a:solidFill>
                <a:latin typeface="Cambria" pitchFamily="34" charset="0"/>
                <a:ea typeface="Cambria" pitchFamily="34" charset="-122"/>
                <a:cs typeface="Cambria" pitchFamily="34" charset="-120"/>
              </a:rPr>
              <a:t>3rd</a:t>
            </a:r>
            <a:endParaRPr lang="en-US" sz="3600" dirty="0"/>
          </a:p>
        </p:txBody>
      </p:sp>
      <p:sp>
        <p:nvSpPr>
          <p:cNvPr id="7" name="Grade circle 5th"/>
          <p:cNvSpPr/>
          <p:nvPr/>
        </p:nvSpPr>
        <p:spPr>
          <a:xfrm>
            <a:off x="8961120" y="3065069"/>
            <a:ext cx="1691640" cy="1691640"/>
          </a:xfrm>
          <a:prstGeom prst="ellipse">
            <a:avLst/>
          </a:prstGeom>
          <a:solidFill>
            <a:schemeClr val="accent6"/>
          </a:solidFill>
          <a:ln w="38100">
            <a:solidFill>
              <a:schemeClr val="bg2"/>
            </a:solidFill>
          </a:ln>
        </p:spPr>
        <p:txBody>
          <a:bodyPr wrap="square" lIns="0" tIns="0" rIns="0" bIns="0" rtlCol="0" anchor="ctr"/>
          <a:lstStyle/>
          <a:p>
            <a:pPr algn="ctr" indent="0" marL="0">
              <a:buNone/>
            </a:pPr>
            <a:r>
              <a:rPr lang="en-US" sz="3600" b="1" dirty="0">
                <a:solidFill>
                  <a:schemeClr val="bg1"/>
                </a:solidFill>
                <a:latin typeface="Cambria" pitchFamily="34" charset="0"/>
                <a:ea typeface="Cambria" pitchFamily="34" charset="-122"/>
                <a:cs typeface="Cambria" pitchFamily="34" charset="-120"/>
              </a:rPr>
              <a:t>5th</a:t>
            </a:r>
            <a:endParaRPr lang="en-US" sz="3600" dirty="0"/>
          </a:p>
        </p:txBody>
      </p:sp>
      <p:sp>
        <p:nvSpPr>
          <p:cNvPr id="8" name="Grade circles caption"/>
          <p:cNvSpPr txBox="1"/>
          <p:nvPr/>
        </p:nvSpPr>
        <p:spPr>
          <a:xfrm>
            <a:off x="7818120" y="4892040"/>
            <a:ext cx="3931920" cy="640080"/>
          </a:xfrm>
          <a:prstGeom prst="rect">
            <a:avLst/>
          </a:prstGeom>
          <a:noFill/>
          <a:ln/>
        </p:spPr>
        <p:txBody>
          <a:bodyPr wrap="square" lIns="0" tIns="0" rIns="0" bIns="0" rtlCol="0" anchor="t"/>
          <a:lstStyle/>
          <a:p>
            <a:pPr algn="ctr" indent="0" marL="0">
              <a:buNone/>
            </a:pPr>
            <a:r>
              <a:rPr lang="en-US" sz="1400" dirty="0">
                <a:solidFill>
                  <a:schemeClr val="bg2"/>
                </a:solidFill>
              </a:rPr>
              <a:t>One profile per child: a kindergartener, a 3rd grader and a 5th grader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rPr>
              <a:t>What it is</a:t>
            </a:r>
            <a:endParaRPr lang="en-US" sz="3600" dirty="0"/>
          </a:p>
        </p:txBody>
      </p:sp>
      <p:sp>
        <p:nvSpPr>
          <p:cNvPr id="3" name="What it is text"/>
          <p:cNvSpPr txBox="1"/>
          <p:nvPr/>
        </p:nvSpPr>
        <p:spPr>
          <a:xfrm>
            <a:off x="548640" y="1280160"/>
            <a:ext cx="5897880" cy="2331720"/>
          </a:xfrm>
          <a:prstGeom prst="rect">
            <a:avLst/>
          </a:prstGeom>
          <a:noFill/>
          <a:ln/>
        </p:spPr>
        <p:txBody>
          <a:bodyPr wrap="square" lIns="0" tIns="0" rIns="0" bIns="0" rtlCol="0" anchor="t"/>
          <a:lstStyle/>
          <a:p>
            <a:pPr indent="0" marL="0">
              <a:spcAft>
                <a:spcPts val="800"/>
              </a:spcAft>
              <a:buNone/>
            </a:pPr>
            <a:r>
              <a:rPr lang="en-US" sz="1500" dirty="0">
                <a:solidFill>
                  <a:schemeClr val="tx1"/>
                </a:solidFill>
              </a:rPr>
              <a:t>A learning game I made for my three children in Anne Arundel County Public Schools: a kindergartener, a 3rd grader and a 5th grader. It practices this year’s grade-level work in the programs AACPS uses (Amplify CKLA for reading and Reveal Math for math), explains why each answer is right, and shows those programs’ methods when a child is stuck.</a:t>
            </a:r>
            <a:endParaRPr lang="en-US" sz="1500" dirty="0"/>
          </a:p>
          <a:p>
            <a:pPr indent="0" marL="0">
              <a:buNone/>
            </a:pPr>
            <a:r>
              <a:rPr lang="en-US" sz="1500" dirty="0">
                <a:solidFill>
                  <a:schemeClr val="tx1"/>
                </a:solidFill>
              </a:rPr>
              <a:t>It is one file that opens in a web browser on a laptop or desktop. It needs no internet connection, account or sign-in, and has no ads, tracking or purchases. It has not been reviewed or endorsed by AACPS or its teachers.</a:t>
            </a:r>
            <a:endParaRPr lang="en-US" sz="1500" dirty="0"/>
          </a:p>
        </p:txBody>
      </p:sp>
      <p:sp>
        <p:nvSpPr>
          <p:cNvPr id="4" name="Stat card 1"/>
          <p:cNvSpPr/>
          <p:nvPr/>
        </p:nvSpPr>
        <p:spPr>
          <a:xfrm>
            <a:off x="548640" y="3703320"/>
            <a:ext cx="2811780" cy="1115568"/>
          </a:xfrm>
          <a:prstGeom prst="roundRect">
            <a:avLst>
              <a:gd name="adj" fmla="val 6557"/>
            </a:avLst>
          </a:prstGeom>
          <a:solidFill>
            <a:schemeClr val="bg1"/>
          </a:solidFill>
          <a:ln/>
          <a:effectLst>
            <a:outerShdw sx="100000" sy="100000" kx="0" ky="0" algn="bl" rotWithShape="0" blurRad="101600" dist="25400" dir="5400000">
              <a:srgbClr val="6E6350">
                <a:alpha val="22000"/>
              </a:srgbClr>
            </a:outerShdw>
          </a:effectLst>
        </p:spPr>
      </p:sp>
      <p:sp>
        <p:nvSpPr>
          <p:cNvPr id="5" name="Stat 1 number"/>
          <p:cNvSpPr txBox="1"/>
          <p:nvPr/>
        </p:nvSpPr>
        <p:spPr>
          <a:xfrm>
            <a:off x="731520" y="3831336"/>
            <a:ext cx="2446020" cy="4572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237</a:t>
            </a:r>
            <a:endParaRPr lang="en-US" sz="3000" dirty="0"/>
          </a:p>
        </p:txBody>
      </p:sp>
      <p:sp>
        <p:nvSpPr>
          <p:cNvPr id="6" name="Stat 1 label"/>
          <p:cNvSpPr txBox="1"/>
          <p:nvPr/>
        </p:nvSpPr>
        <p:spPr>
          <a:xfrm>
            <a:off x="731520" y="4306824"/>
            <a:ext cx="2446020" cy="502920"/>
          </a:xfrm>
          <a:prstGeom prst="rect">
            <a:avLst/>
          </a:prstGeom>
          <a:noFill/>
          <a:ln/>
        </p:spPr>
        <p:txBody>
          <a:bodyPr wrap="square" lIns="0" tIns="0" rIns="0" bIns="0" rtlCol="0" anchor="t"/>
          <a:lstStyle/>
          <a:p>
            <a:pPr indent="0" marL="0">
              <a:buNone/>
            </a:pPr>
            <a:r>
              <a:rPr lang="en-US" sz="1300" dirty="0">
                <a:solidFill>
                  <a:schemeClr val="tx1"/>
                </a:solidFill>
              </a:rPr>
              <a:t>topic packs, kindergarten to 5th grade</a:t>
            </a:r>
            <a:endParaRPr lang="en-US" sz="1300" dirty="0"/>
          </a:p>
        </p:txBody>
      </p:sp>
      <p:sp>
        <p:nvSpPr>
          <p:cNvPr id="7" name="Stat card 2"/>
          <p:cNvSpPr/>
          <p:nvPr/>
        </p:nvSpPr>
        <p:spPr>
          <a:xfrm>
            <a:off x="3634740" y="3703320"/>
            <a:ext cx="2811780" cy="1115568"/>
          </a:xfrm>
          <a:prstGeom prst="roundRect">
            <a:avLst>
              <a:gd name="adj" fmla="val 6557"/>
            </a:avLst>
          </a:prstGeom>
          <a:solidFill>
            <a:schemeClr val="bg1"/>
          </a:solidFill>
          <a:ln/>
          <a:effectLst>
            <a:outerShdw sx="100000" sy="100000" kx="0" ky="0" algn="bl" rotWithShape="0" blurRad="101600" dist="25400" dir="5400000">
              <a:srgbClr val="6E6350">
                <a:alpha val="22000"/>
              </a:srgbClr>
            </a:outerShdw>
          </a:effectLst>
        </p:spPr>
      </p:sp>
      <p:sp>
        <p:nvSpPr>
          <p:cNvPr id="8" name="Stat 2 number"/>
          <p:cNvSpPr txBox="1"/>
          <p:nvPr/>
        </p:nvSpPr>
        <p:spPr>
          <a:xfrm>
            <a:off x="3817620" y="3831336"/>
            <a:ext cx="2446020" cy="4572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10,400+</a:t>
            </a:r>
            <a:endParaRPr lang="en-US" sz="3000" dirty="0"/>
          </a:p>
        </p:txBody>
      </p:sp>
      <p:sp>
        <p:nvSpPr>
          <p:cNvPr id="9" name="Stat 2 label"/>
          <p:cNvSpPr txBox="1"/>
          <p:nvPr/>
        </p:nvSpPr>
        <p:spPr>
          <a:xfrm>
            <a:off x="3817620" y="4306824"/>
            <a:ext cx="2446020" cy="502920"/>
          </a:xfrm>
          <a:prstGeom prst="rect">
            <a:avLst/>
          </a:prstGeom>
          <a:noFill/>
          <a:ln/>
        </p:spPr>
        <p:txBody>
          <a:bodyPr wrap="square" lIns="0" tIns="0" rIns="0" bIns="0" rtlCol="0" anchor="t"/>
          <a:lstStyle/>
          <a:p>
            <a:pPr indent="0" marL="0">
              <a:buNone/>
            </a:pPr>
            <a:r>
              <a:rPr lang="en-US" sz="1300" dirty="0">
                <a:solidFill>
                  <a:schemeClr val="tx1"/>
                </a:solidFill>
              </a:rPr>
              <a:t>written questions, each with an explanation and coaching steps</a:t>
            </a:r>
            <a:endParaRPr lang="en-US" sz="1300" dirty="0"/>
          </a:p>
        </p:txBody>
      </p:sp>
      <p:sp>
        <p:nvSpPr>
          <p:cNvPr id="10" name="Stat card 3"/>
          <p:cNvSpPr/>
          <p:nvPr/>
        </p:nvSpPr>
        <p:spPr>
          <a:xfrm>
            <a:off x="548640" y="5020056"/>
            <a:ext cx="2811780" cy="1115568"/>
          </a:xfrm>
          <a:prstGeom prst="roundRect">
            <a:avLst>
              <a:gd name="adj" fmla="val 6557"/>
            </a:avLst>
          </a:prstGeom>
          <a:solidFill>
            <a:schemeClr val="bg1"/>
          </a:solidFill>
          <a:ln/>
          <a:effectLst>
            <a:outerShdw sx="100000" sy="100000" kx="0" ky="0" algn="bl" rotWithShape="0" blurRad="101600" dist="25400" dir="5400000">
              <a:srgbClr val="6E6350">
                <a:alpha val="22000"/>
              </a:srgbClr>
            </a:outerShdw>
          </a:effectLst>
        </p:spPr>
      </p:sp>
      <p:sp>
        <p:nvSpPr>
          <p:cNvPr id="11" name="Stat 3 number"/>
          <p:cNvSpPr txBox="1"/>
          <p:nvPr/>
        </p:nvSpPr>
        <p:spPr>
          <a:xfrm>
            <a:off x="731520" y="5148072"/>
            <a:ext cx="2446020" cy="4572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780</a:t>
            </a:r>
            <a:endParaRPr lang="en-US" sz="3000" dirty="0"/>
          </a:p>
        </p:txBody>
      </p:sp>
      <p:sp>
        <p:nvSpPr>
          <p:cNvPr id="12" name="Stat 3 label"/>
          <p:cNvSpPr txBox="1"/>
          <p:nvPr/>
        </p:nvSpPr>
        <p:spPr>
          <a:xfrm>
            <a:off x="731520" y="5623560"/>
            <a:ext cx="2446020" cy="502920"/>
          </a:xfrm>
          <a:prstGeom prst="rect">
            <a:avLst/>
          </a:prstGeom>
          <a:noFill/>
          <a:ln/>
        </p:spPr>
        <p:txBody>
          <a:bodyPr wrap="square" lIns="0" tIns="0" rIns="0" bIns="0" rtlCol="0" anchor="t"/>
          <a:lstStyle/>
          <a:p>
            <a:pPr indent="0" marL="0">
              <a:buNone/>
            </a:pPr>
            <a:r>
              <a:rPr lang="en-US" sz="1300" dirty="0">
                <a:solidFill>
                  <a:schemeClr val="tx1"/>
                </a:solidFill>
              </a:rPr>
              <a:t>thinking puzzles, plus math generated fresh every round</a:t>
            </a:r>
            <a:endParaRPr lang="en-US" sz="1300" dirty="0"/>
          </a:p>
        </p:txBody>
      </p:sp>
      <p:sp>
        <p:nvSpPr>
          <p:cNvPr id="13" name="Stat card 4"/>
          <p:cNvSpPr/>
          <p:nvPr/>
        </p:nvSpPr>
        <p:spPr>
          <a:xfrm>
            <a:off x="3634740" y="5020056"/>
            <a:ext cx="2811780" cy="1115568"/>
          </a:xfrm>
          <a:prstGeom prst="roundRect">
            <a:avLst>
              <a:gd name="adj" fmla="val 6557"/>
            </a:avLst>
          </a:prstGeom>
          <a:solidFill>
            <a:schemeClr val="bg1"/>
          </a:solidFill>
          <a:ln/>
          <a:effectLst>
            <a:outerShdw sx="100000" sy="100000" kx="0" ky="0" algn="bl" rotWithShape="0" blurRad="101600" dist="25400" dir="5400000">
              <a:srgbClr val="6E6350">
                <a:alpha val="22000"/>
              </a:srgbClr>
            </a:outerShdw>
          </a:effectLst>
        </p:spPr>
      </p:sp>
      <p:sp>
        <p:nvSpPr>
          <p:cNvPr id="14" name="Stat 4 number"/>
          <p:cNvSpPr txBox="1"/>
          <p:nvPr/>
        </p:nvSpPr>
        <p:spPr>
          <a:xfrm>
            <a:off x="3817620" y="5148072"/>
            <a:ext cx="2446020" cy="4572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40</a:t>
            </a:r>
            <a:endParaRPr lang="en-US" sz="3000" dirty="0"/>
          </a:p>
        </p:txBody>
      </p:sp>
      <p:sp>
        <p:nvSpPr>
          <p:cNvPr id="15" name="Stat 4 label"/>
          <p:cNvSpPr txBox="1"/>
          <p:nvPr/>
        </p:nvSpPr>
        <p:spPr>
          <a:xfrm>
            <a:off x="3817620" y="5623560"/>
            <a:ext cx="2446020" cy="502920"/>
          </a:xfrm>
          <a:prstGeom prst="rect">
            <a:avLst/>
          </a:prstGeom>
          <a:noFill/>
          <a:ln/>
        </p:spPr>
        <p:txBody>
          <a:bodyPr wrap="square" lIns="0" tIns="0" rIns="0" bIns="0" rtlCol="0" anchor="t"/>
          <a:lstStyle/>
          <a:p>
            <a:pPr indent="0" marL="0">
              <a:buNone/>
            </a:pPr>
            <a:r>
              <a:rPr lang="en-US" sz="1300" dirty="0">
                <a:solidFill>
                  <a:schemeClr val="tx1"/>
                </a:solidFill>
              </a:rPr>
              <a:t>Reading Road stops, from first letter sounds to comprehension</a:t>
            </a:r>
            <a:endParaRPr lang="en-US" sz="1300" dirty="0"/>
          </a:p>
        </p:txBody>
      </p:sp>
      <p:sp>
        <p:nvSpPr>
          <p:cNvPr id="16" name="Title screen screenshot shadow"/>
          <p:cNvSpPr/>
          <p:nvPr/>
        </p:nvSpPr>
        <p:spPr>
          <a:xfrm>
            <a:off x="6888175" y="1435608"/>
            <a:ext cx="4754880" cy="3117954"/>
          </a:xfrm>
          <a:prstGeom prst="rect">
            <a:avLst/>
          </a:prstGeom>
          <a:solidFill>
            <a:schemeClr val="tx1"/>
          </a:solidFill>
          <a:ln/>
        </p:spPr>
      </p:sp>
      <p:pic>
        <p:nvPicPr>
          <p:cNvPr id="17" name="Title screen screenshot" descr="The game's title screen: the Ticali Trio logo, the link For grown-ups: about this game, one card each for Kindergarten, 3rd Grade and 5th Grade, and the Family Team Goal. The small parent link is at the bottom right.">    </p:cNvPr>
          <p:cNvPicPr>
            <a:picLocks noChangeAspect="1"/>
          </p:cNvPicPr>
          <p:nvPr/>
        </p:nvPicPr>
        <p:blipFill>
          <a:blip r:embed="rId1"/>
          <a:stretch>
            <a:fillRect/>
          </a:stretch>
        </p:blipFill>
        <p:spPr>
          <a:xfrm>
            <a:off x="6824167" y="1371600"/>
            <a:ext cx="4754880" cy="3117954"/>
          </a:xfrm>
          <a:prstGeom prst="rect">
            <a:avLst/>
          </a:prstGeom>
        </p:spPr>
      </p:pic>
      <p:sp>
        <p:nvSpPr>
          <p:cNvPr id="18" name="Title screen screenshot frame"/>
          <p:cNvSpPr/>
          <p:nvPr/>
        </p:nvSpPr>
        <p:spPr>
          <a:xfrm>
            <a:off x="6824167" y="1371600"/>
            <a:ext cx="4754880" cy="3117954"/>
          </a:xfrm>
          <a:prstGeom prst="rect">
            <a:avLst/>
          </a:prstGeom>
          <a:ln w="15875">
            <a:solidFill>
              <a:schemeClr val="tx1"/>
            </a:solidFill>
            <a:prstDash val="solid"/>
          </a:ln>
        </p:spPr>
      </p:sp>
      <p:sp>
        <p:nvSpPr>
          <p:cNvPr id="19" name="Title screen caption"/>
          <p:cNvSpPr txBox="1"/>
          <p:nvPr/>
        </p:nvSpPr>
        <p:spPr>
          <a:xfrm>
            <a:off x="6824167" y="4690722"/>
            <a:ext cx="4818888" cy="822960"/>
          </a:xfrm>
          <a:prstGeom prst="rect">
            <a:avLst/>
          </a:prstGeom>
          <a:noFill/>
          <a:ln/>
        </p:spPr>
        <p:txBody>
          <a:bodyPr wrap="square" lIns="0" tIns="0" rIns="0" bIns="0" rtlCol="0" anchor="t"/>
          <a:lstStyle/>
          <a:p>
            <a:pPr indent="0" marL="0">
              <a:buNone/>
            </a:pPr>
            <a:r>
              <a:rPr lang="en-US" sz="1200" i="1" dirty="0">
                <a:solidFill>
                  <a:schemeClr val="tx2"/>
                </a:solidFill>
              </a:rPr>
              <a:t>The title screen: a link for grown-ups, one card per child, and a family goal the three reach together. The levels and stars shown come from a sample save made for these pictures, not the children’s real progress.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rPr>
              <a:t>What it is for</a:t>
            </a:r>
            <a:endParaRPr lang="en-US" sz="3600" dirty="0"/>
          </a:p>
        </p:txBody>
      </p:sp>
      <p:sp>
        <p:nvSpPr>
          <p:cNvPr id="3" name="Aim 1 card"/>
          <p:cNvSpPr/>
          <p:nvPr/>
        </p:nvSpPr>
        <p:spPr>
          <a:xfrm>
            <a:off x="548640" y="1325880"/>
            <a:ext cx="3515258" cy="2331720"/>
          </a:xfrm>
          <a:prstGeom prst="roundRect">
            <a:avLst>
              <a:gd name="adj" fmla="val 3137"/>
            </a:avLst>
          </a:prstGeom>
          <a:solidFill>
            <a:schemeClr val="bg1"/>
          </a:solidFill>
          <a:ln/>
          <a:effectLst>
            <a:outerShdw sx="100000" sy="100000" kx="0" ky="0" algn="bl" rotWithShape="0" blurRad="101600" dist="25400" dir="5400000">
              <a:srgbClr val="6E6350">
                <a:alpha val="22000"/>
              </a:srgbClr>
            </a:outerShdw>
          </a:effectLst>
        </p:spPr>
      </p:sp>
      <p:sp>
        <p:nvSpPr>
          <p:cNvPr id="4" name="Aim 1 circle"/>
          <p:cNvSpPr/>
          <p:nvPr/>
        </p:nvSpPr>
        <p:spPr>
          <a:xfrm>
            <a:off x="777240" y="1554480"/>
            <a:ext cx="548640" cy="548640"/>
          </a:xfrm>
          <a:prstGeom prst="ellipse">
            <a:avLst/>
          </a:prstGeom>
          <a:solidFill>
            <a:schemeClr val="accent1"/>
          </a:solidFill>
          <a:ln/>
        </p:spPr>
      </p:sp>
      <p:pic>
        <p:nvPicPr>
          <p:cNvPr id="5" name="Aim 1 icon" descr="calendar check icon">    </p:cNvPr>
          <p:cNvPicPr>
            <a:picLocks noChangeAspect="1"/>
          </p:cNvPicPr>
          <p:nvPr/>
        </p:nvPicPr>
        <p:blipFill>
          <a:blip r:embed="rId1"/>
          <a:stretch>
            <a:fillRect/>
          </a:stretch>
        </p:blipFill>
        <p:spPr>
          <a:xfrm>
            <a:off x="908914" y="1686154"/>
            <a:ext cx="285293" cy="285293"/>
          </a:xfrm>
          <a:prstGeom prst="rect">
            <a:avLst/>
          </a:prstGeom>
        </p:spPr>
      </p:pic>
      <p:sp>
        <p:nvSpPr>
          <p:cNvPr id="6" name="Aim 1 heading"/>
          <p:cNvSpPr txBox="1"/>
          <p:nvPr/>
        </p:nvSpPr>
        <p:spPr>
          <a:xfrm>
            <a:off x="1463040" y="1508760"/>
            <a:ext cx="2417978" cy="640080"/>
          </a:xfrm>
          <a:prstGeom prst="rect">
            <a:avLst/>
          </a:prstGeom>
          <a:noFill/>
          <a:ln/>
        </p:spPr>
        <p:txBody>
          <a:bodyPr wrap="square" lIns="0" tIns="0" rIns="0" bIns="0" rtlCol="0" anchor="ctr"/>
          <a:lstStyle/>
          <a:p>
            <a:pPr indent="0" marL="0">
              <a:buNone/>
            </a:pPr>
            <a:r>
              <a:rPr lang="en-US" sz="1700" b="1" dirty="0">
                <a:solidFill>
                  <a:schemeClr val="tx1"/>
                </a:solidFill>
              </a:rPr>
              <a:t>Practice this year’s work</a:t>
            </a:r>
            <a:endParaRPr lang="en-US" sz="1700" dirty="0"/>
          </a:p>
        </p:txBody>
      </p:sp>
      <p:sp>
        <p:nvSpPr>
          <p:cNvPr id="7" name="Aim 1 text"/>
          <p:cNvSpPr txBox="1"/>
          <p:nvPr/>
        </p:nvSpPr>
        <p:spPr>
          <a:xfrm>
            <a:off x="777240" y="2194560"/>
            <a:ext cx="3058058" cy="1325880"/>
          </a:xfrm>
          <a:prstGeom prst="rect">
            <a:avLst/>
          </a:prstGeom>
          <a:noFill/>
          <a:ln/>
        </p:spPr>
        <p:txBody>
          <a:bodyPr wrap="square" lIns="0" tIns="0" rIns="0" bIns="0" rtlCol="0" anchor="t"/>
          <a:lstStyle/>
          <a:p>
            <a:pPr indent="0" marL="0">
              <a:buNone/>
            </a:pPr>
            <a:r>
              <a:rPr lang="en-US" sz="1400" dirty="0">
                <a:solidFill>
                  <a:schemeClr val="tx1"/>
                </a:solidFill>
              </a:rPr>
              <a:t>Each child’s hub holds this year’s work, with last year’s kept for review. Every grade from kindergarten to 5th is one tap away.</a:t>
            </a:r>
            <a:endParaRPr lang="en-US" sz="1400" dirty="0"/>
          </a:p>
        </p:txBody>
      </p:sp>
      <p:sp>
        <p:nvSpPr>
          <p:cNvPr id="8" name="Aim 2 card"/>
          <p:cNvSpPr/>
          <p:nvPr/>
        </p:nvSpPr>
        <p:spPr>
          <a:xfrm>
            <a:off x="4338218" y="1325880"/>
            <a:ext cx="3515258" cy="2331720"/>
          </a:xfrm>
          <a:prstGeom prst="roundRect">
            <a:avLst>
              <a:gd name="adj" fmla="val 3137"/>
            </a:avLst>
          </a:prstGeom>
          <a:solidFill>
            <a:schemeClr val="bg1"/>
          </a:solidFill>
          <a:ln/>
          <a:effectLst>
            <a:outerShdw sx="100000" sy="100000" kx="0" ky="0" algn="bl" rotWithShape="0" blurRad="101600" dist="25400" dir="5400000">
              <a:srgbClr val="6E6350">
                <a:alpha val="22000"/>
              </a:srgbClr>
            </a:outerShdw>
          </a:effectLst>
        </p:spPr>
      </p:sp>
      <p:sp>
        <p:nvSpPr>
          <p:cNvPr id="9" name="Aim 2 circle"/>
          <p:cNvSpPr/>
          <p:nvPr/>
        </p:nvSpPr>
        <p:spPr>
          <a:xfrm>
            <a:off x="4566818" y="1554480"/>
            <a:ext cx="548640" cy="548640"/>
          </a:xfrm>
          <a:prstGeom prst="ellipse">
            <a:avLst/>
          </a:prstGeom>
          <a:solidFill>
            <a:schemeClr val="accent1"/>
          </a:solidFill>
          <a:ln/>
        </p:spPr>
      </p:sp>
      <p:pic>
        <p:nvPicPr>
          <p:cNvPr id="10" name="Aim 2 icon" descr="lightbulb icon">    </p:cNvPr>
          <p:cNvPicPr>
            <a:picLocks noChangeAspect="1"/>
          </p:cNvPicPr>
          <p:nvPr/>
        </p:nvPicPr>
        <p:blipFill>
          <a:blip r:embed="rId2"/>
          <a:stretch>
            <a:fillRect/>
          </a:stretch>
        </p:blipFill>
        <p:spPr>
          <a:xfrm>
            <a:off x="4698492" y="1686154"/>
            <a:ext cx="285293" cy="285293"/>
          </a:xfrm>
          <a:prstGeom prst="rect">
            <a:avLst/>
          </a:prstGeom>
        </p:spPr>
      </p:pic>
      <p:sp>
        <p:nvSpPr>
          <p:cNvPr id="11" name="Aim 2 heading"/>
          <p:cNvSpPr txBox="1"/>
          <p:nvPr/>
        </p:nvSpPr>
        <p:spPr>
          <a:xfrm>
            <a:off x="5252618" y="1508760"/>
            <a:ext cx="2417978" cy="640080"/>
          </a:xfrm>
          <a:prstGeom prst="rect">
            <a:avLst/>
          </a:prstGeom>
          <a:noFill/>
          <a:ln/>
        </p:spPr>
        <p:txBody>
          <a:bodyPr wrap="square" lIns="0" tIns="0" rIns="0" bIns="0" rtlCol="0" anchor="ctr"/>
          <a:lstStyle/>
          <a:p>
            <a:pPr indent="0" marL="0">
              <a:buNone/>
            </a:pPr>
            <a:r>
              <a:rPr lang="en-US" sz="1700" b="1" dirty="0">
                <a:solidFill>
                  <a:schemeClr val="tx1"/>
                </a:solidFill>
              </a:rPr>
              <a:t>Understand, not just answer</a:t>
            </a:r>
            <a:endParaRPr lang="en-US" sz="1700" dirty="0"/>
          </a:p>
        </p:txBody>
      </p:sp>
      <p:sp>
        <p:nvSpPr>
          <p:cNvPr id="12" name="Aim 2 text"/>
          <p:cNvSpPr txBox="1"/>
          <p:nvPr/>
        </p:nvSpPr>
        <p:spPr>
          <a:xfrm>
            <a:off x="4566818" y="2194560"/>
            <a:ext cx="3058058" cy="1325880"/>
          </a:xfrm>
          <a:prstGeom prst="rect">
            <a:avLst/>
          </a:prstGeom>
          <a:noFill/>
          <a:ln/>
        </p:spPr>
        <p:txBody>
          <a:bodyPr wrap="square" lIns="0" tIns="0" rIns="0" bIns="0" rtlCol="0" anchor="t"/>
          <a:lstStyle/>
          <a:p>
            <a:pPr indent="0" marL="0">
              <a:buNone/>
            </a:pPr>
            <a:r>
              <a:rPr lang="en-US" sz="1400" dirty="0">
                <a:solidFill>
                  <a:schemeClr val="tx1"/>
                </a:solidFill>
              </a:rPr>
              <a:t>Every answer, right or wrong, is followed by why. On most question types, a wrong answer gets a hint and a second try.</a:t>
            </a:r>
            <a:endParaRPr lang="en-US" sz="1400" dirty="0"/>
          </a:p>
        </p:txBody>
      </p:sp>
      <p:sp>
        <p:nvSpPr>
          <p:cNvPr id="13" name="Aim 3 card"/>
          <p:cNvSpPr/>
          <p:nvPr/>
        </p:nvSpPr>
        <p:spPr>
          <a:xfrm>
            <a:off x="8127797" y="1325880"/>
            <a:ext cx="3515258" cy="2331720"/>
          </a:xfrm>
          <a:prstGeom prst="roundRect">
            <a:avLst>
              <a:gd name="adj" fmla="val 3137"/>
            </a:avLst>
          </a:prstGeom>
          <a:solidFill>
            <a:schemeClr val="bg1"/>
          </a:solidFill>
          <a:ln/>
          <a:effectLst>
            <a:outerShdw sx="100000" sy="100000" kx="0" ky="0" algn="bl" rotWithShape="0" blurRad="101600" dist="25400" dir="5400000">
              <a:srgbClr val="6E6350">
                <a:alpha val="22000"/>
              </a:srgbClr>
            </a:outerShdw>
          </a:effectLst>
        </p:spPr>
      </p:sp>
      <p:sp>
        <p:nvSpPr>
          <p:cNvPr id="14" name="Aim 3 circle"/>
          <p:cNvSpPr/>
          <p:nvPr/>
        </p:nvSpPr>
        <p:spPr>
          <a:xfrm>
            <a:off x="8356397" y="1554480"/>
            <a:ext cx="548640" cy="548640"/>
          </a:xfrm>
          <a:prstGeom prst="ellipse">
            <a:avLst/>
          </a:prstGeom>
          <a:solidFill>
            <a:schemeClr val="accent1"/>
          </a:solidFill>
          <a:ln/>
        </p:spPr>
      </p:sp>
      <p:pic>
        <p:nvPicPr>
          <p:cNvPr id="15" name="Aim 3 icon" descr="chalkboard teacher icon">    </p:cNvPr>
          <p:cNvPicPr>
            <a:picLocks noChangeAspect="1"/>
          </p:cNvPicPr>
          <p:nvPr/>
        </p:nvPicPr>
        <p:blipFill>
          <a:blip r:embed="rId3"/>
          <a:stretch>
            <a:fillRect/>
          </a:stretch>
        </p:blipFill>
        <p:spPr>
          <a:xfrm>
            <a:off x="8488070" y="1686154"/>
            <a:ext cx="285293" cy="285293"/>
          </a:xfrm>
          <a:prstGeom prst="rect">
            <a:avLst/>
          </a:prstGeom>
        </p:spPr>
      </p:pic>
      <p:sp>
        <p:nvSpPr>
          <p:cNvPr id="16" name="Aim 3 heading"/>
          <p:cNvSpPr txBox="1"/>
          <p:nvPr/>
        </p:nvSpPr>
        <p:spPr>
          <a:xfrm>
            <a:off x="9042197" y="1508760"/>
            <a:ext cx="2417978" cy="640080"/>
          </a:xfrm>
          <a:prstGeom prst="rect">
            <a:avLst/>
          </a:prstGeom>
          <a:noFill/>
          <a:ln/>
        </p:spPr>
        <p:txBody>
          <a:bodyPr wrap="square" lIns="0" tIns="0" rIns="0" bIns="0" rtlCol="0" anchor="ctr"/>
          <a:lstStyle/>
          <a:p>
            <a:pPr indent="0" marL="0">
              <a:buNone/>
            </a:pPr>
            <a:r>
              <a:rPr lang="en-US" sz="1700" b="1" dirty="0">
                <a:solidFill>
                  <a:schemeClr val="tx1"/>
                </a:solidFill>
              </a:rPr>
              <a:t>Learn it the way the programs teach it</a:t>
            </a:r>
            <a:endParaRPr lang="en-US" sz="1700" dirty="0"/>
          </a:p>
        </p:txBody>
      </p:sp>
      <p:sp>
        <p:nvSpPr>
          <p:cNvPr id="17" name="Aim 3 text"/>
          <p:cNvSpPr txBox="1"/>
          <p:nvPr/>
        </p:nvSpPr>
        <p:spPr>
          <a:xfrm>
            <a:off x="8356397" y="2194560"/>
            <a:ext cx="3058058" cy="1325880"/>
          </a:xfrm>
          <a:prstGeom prst="rect">
            <a:avLst/>
          </a:prstGeom>
          <a:noFill/>
          <a:ln/>
        </p:spPr>
        <p:txBody>
          <a:bodyPr wrap="square" lIns="0" tIns="0" rIns="0" bIns="0" rtlCol="0" anchor="t"/>
          <a:lstStyle/>
          <a:p>
            <a:pPr indent="0" marL="0">
              <a:buNone/>
            </a:pPr>
            <a:r>
              <a:rPr lang="en-US" sz="1400" dirty="0">
                <a:solidFill>
                  <a:schemeClr val="tx1"/>
                </a:solidFill>
              </a:rPr>
              <a:t>SHOW ME HOW walks through the method step by step, with the question’s own numbers and words: make a ten, the area model, arm blending, look back in the story. Every question has it.</a:t>
            </a:r>
            <a:endParaRPr lang="en-US" sz="1400" dirty="0"/>
          </a:p>
        </p:txBody>
      </p:sp>
      <p:sp>
        <p:nvSpPr>
          <p:cNvPr id="18" name="Aim 4 card"/>
          <p:cNvSpPr/>
          <p:nvPr/>
        </p:nvSpPr>
        <p:spPr>
          <a:xfrm>
            <a:off x="548640" y="3931920"/>
            <a:ext cx="3515258" cy="2331720"/>
          </a:xfrm>
          <a:prstGeom prst="roundRect">
            <a:avLst>
              <a:gd name="adj" fmla="val 3137"/>
            </a:avLst>
          </a:prstGeom>
          <a:solidFill>
            <a:schemeClr val="bg1"/>
          </a:solidFill>
          <a:ln/>
          <a:effectLst>
            <a:outerShdw sx="100000" sy="100000" kx="0" ky="0" algn="bl" rotWithShape="0" blurRad="101600" dist="25400" dir="5400000">
              <a:srgbClr val="6E6350">
                <a:alpha val="22000"/>
              </a:srgbClr>
            </a:outerShdw>
          </a:effectLst>
        </p:spPr>
      </p:sp>
      <p:sp>
        <p:nvSpPr>
          <p:cNvPr id="19" name="Aim 4 circle"/>
          <p:cNvSpPr/>
          <p:nvPr/>
        </p:nvSpPr>
        <p:spPr>
          <a:xfrm>
            <a:off x="777240" y="4160520"/>
            <a:ext cx="548640" cy="548640"/>
          </a:xfrm>
          <a:prstGeom prst="ellipse">
            <a:avLst/>
          </a:prstGeom>
          <a:solidFill>
            <a:schemeClr val="accent1"/>
          </a:solidFill>
          <a:ln/>
        </p:spPr>
      </p:sp>
      <p:pic>
        <p:nvPicPr>
          <p:cNvPr id="20" name="Aim 4 icon" descr="puzzle piece icon">    </p:cNvPr>
          <p:cNvPicPr>
            <a:picLocks noChangeAspect="1"/>
          </p:cNvPicPr>
          <p:nvPr/>
        </p:nvPicPr>
        <p:blipFill>
          <a:blip r:embed="rId4"/>
          <a:stretch>
            <a:fillRect/>
          </a:stretch>
        </p:blipFill>
        <p:spPr>
          <a:xfrm>
            <a:off x="908914" y="4292194"/>
            <a:ext cx="285293" cy="285293"/>
          </a:xfrm>
          <a:prstGeom prst="rect">
            <a:avLst/>
          </a:prstGeom>
        </p:spPr>
      </p:pic>
      <p:sp>
        <p:nvSpPr>
          <p:cNvPr id="21" name="Aim 4 heading"/>
          <p:cNvSpPr txBox="1"/>
          <p:nvPr/>
        </p:nvSpPr>
        <p:spPr>
          <a:xfrm>
            <a:off x="1463040" y="4114800"/>
            <a:ext cx="2417978" cy="640080"/>
          </a:xfrm>
          <a:prstGeom prst="rect">
            <a:avLst/>
          </a:prstGeom>
          <a:noFill/>
          <a:ln/>
        </p:spPr>
        <p:txBody>
          <a:bodyPr wrap="square" lIns="0" tIns="0" rIns="0" bIns="0" rtlCol="0" anchor="ctr"/>
          <a:lstStyle/>
          <a:p>
            <a:pPr indent="0" marL="0">
              <a:buNone/>
            </a:pPr>
            <a:r>
              <a:rPr lang="en-US" sz="1700" b="1" dirty="0">
                <a:solidFill>
                  <a:schemeClr val="tx1"/>
                </a:solidFill>
              </a:rPr>
              <a:t>Think, not guess</a:t>
            </a:r>
            <a:endParaRPr lang="en-US" sz="1700" dirty="0"/>
          </a:p>
        </p:txBody>
      </p:sp>
      <p:sp>
        <p:nvSpPr>
          <p:cNvPr id="22" name="Aim 4 text"/>
          <p:cNvSpPr txBox="1"/>
          <p:nvPr/>
        </p:nvSpPr>
        <p:spPr>
          <a:xfrm>
            <a:off x="777240" y="4800600"/>
            <a:ext cx="3058058" cy="1325880"/>
          </a:xfrm>
          <a:prstGeom prst="rect">
            <a:avLst/>
          </a:prstGeom>
          <a:noFill/>
          <a:ln/>
        </p:spPr>
        <p:txBody>
          <a:bodyPr wrap="square" lIns="0" tIns="0" rIns="0" bIns="0" rtlCol="0" anchor="t"/>
          <a:lstStyle/>
          <a:p>
            <a:pPr indent="0" marL="0">
              <a:buNone/>
            </a:pPr>
            <a:r>
              <a:rPr lang="en-US" sz="1400" dirty="0">
                <a:solidFill>
                  <a:schemeClr val="tx1"/>
                </a:solidFill>
              </a:rPr>
              <a:t>Puzzles ask children to pick every answer that fits, put steps in order, sort, or answer and then prove it: the kinds of items on Maryland’s new MSTAR tests.</a:t>
            </a:r>
            <a:endParaRPr lang="en-US" sz="1400" dirty="0"/>
          </a:p>
        </p:txBody>
      </p:sp>
      <p:sp>
        <p:nvSpPr>
          <p:cNvPr id="23" name="Aim 5 card"/>
          <p:cNvSpPr/>
          <p:nvPr/>
        </p:nvSpPr>
        <p:spPr>
          <a:xfrm>
            <a:off x="4338218" y="3931920"/>
            <a:ext cx="3515258" cy="2331720"/>
          </a:xfrm>
          <a:prstGeom prst="roundRect">
            <a:avLst>
              <a:gd name="adj" fmla="val 3137"/>
            </a:avLst>
          </a:prstGeom>
          <a:solidFill>
            <a:schemeClr val="bg1"/>
          </a:solidFill>
          <a:ln/>
          <a:effectLst>
            <a:outerShdw sx="100000" sy="100000" kx="0" ky="0" algn="bl" rotWithShape="0" blurRad="101600" dist="25400" dir="5400000">
              <a:srgbClr val="6E6350">
                <a:alpha val="22000"/>
              </a:srgbClr>
            </a:outerShdw>
          </a:effectLst>
        </p:spPr>
      </p:sp>
      <p:sp>
        <p:nvSpPr>
          <p:cNvPr id="24" name="Aim 5 circle"/>
          <p:cNvSpPr/>
          <p:nvPr/>
        </p:nvSpPr>
        <p:spPr>
          <a:xfrm>
            <a:off x="4566818" y="4160520"/>
            <a:ext cx="548640" cy="548640"/>
          </a:xfrm>
          <a:prstGeom prst="ellipse">
            <a:avLst/>
          </a:prstGeom>
          <a:solidFill>
            <a:schemeClr val="accent1"/>
          </a:solidFill>
          <a:ln/>
        </p:spPr>
      </p:sp>
      <p:pic>
        <p:nvPicPr>
          <p:cNvPr id="25" name="Aim 5 icon" descr="book reader icon">    </p:cNvPr>
          <p:cNvPicPr>
            <a:picLocks noChangeAspect="1"/>
          </p:cNvPicPr>
          <p:nvPr/>
        </p:nvPicPr>
        <p:blipFill>
          <a:blip r:embed="rId5"/>
          <a:stretch>
            <a:fillRect/>
          </a:stretch>
        </p:blipFill>
        <p:spPr>
          <a:xfrm>
            <a:off x="4698492" y="4292194"/>
            <a:ext cx="285293" cy="285293"/>
          </a:xfrm>
          <a:prstGeom prst="rect">
            <a:avLst/>
          </a:prstGeom>
        </p:spPr>
      </p:pic>
      <p:sp>
        <p:nvSpPr>
          <p:cNvPr id="26" name="Aim 5 heading"/>
          <p:cNvSpPr txBox="1"/>
          <p:nvPr/>
        </p:nvSpPr>
        <p:spPr>
          <a:xfrm>
            <a:off x="5252618" y="4114800"/>
            <a:ext cx="2417978" cy="640080"/>
          </a:xfrm>
          <a:prstGeom prst="rect">
            <a:avLst/>
          </a:prstGeom>
          <a:noFill/>
          <a:ln/>
        </p:spPr>
        <p:txBody>
          <a:bodyPr wrap="square" lIns="0" tIns="0" rIns="0" bIns="0" rtlCol="0" anchor="ctr"/>
          <a:lstStyle/>
          <a:p>
            <a:pPr indent="0" marL="0">
              <a:buNone/>
            </a:pPr>
            <a:r>
              <a:rPr lang="en-US" sz="1700" b="1" dirty="0">
                <a:solidFill>
                  <a:schemeClr val="tx1"/>
                </a:solidFill>
              </a:rPr>
              <a:t>Grow readers</a:t>
            </a:r>
            <a:endParaRPr lang="en-US" sz="1700" dirty="0"/>
          </a:p>
        </p:txBody>
      </p:sp>
      <p:sp>
        <p:nvSpPr>
          <p:cNvPr id="27" name="Aim 5 text"/>
          <p:cNvSpPr txBox="1"/>
          <p:nvPr/>
        </p:nvSpPr>
        <p:spPr>
          <a:xfrm>
            <a:off x="4566818" y="4800600"/>
            <a:ext cx="3058058" cy="1325880"/>
          </a:xfrm>
          <a:prstGeom prst="rect">
            <a:avLst/>
          </a:prstGeom>
          <a:noFill/>
          <a:ln/>
        </p:spPr>
        <p:txBody>
          <a:bodyPr wrap="square" lIns="0" tIns="0" rIns="0" bIns="0" rtlCol="0" anchor="t"/>
          <a:lstStyle/>
          <a:p>
            <a:pPr indent="0" marL="0">
              <a:buNone/>
            </a:pPr>
            <a:r>
              <a:rPr lang="en-US" sz="1400" dirty="0">
                <a:solidFill>
                  <a:schemeClr val="tx1"/>
                </a:solidFill>
              </a:rPr>
              <a:t>The Reading Road follows Amplify CKLA’s order of sounds. After the first five stops, each story uses only what the Road has taught so far. In kindergarten and 1st grade, every question, answer and story can be read aloud.</a:t>
            </a:r>
            <a:endParaRPr lang="en-US" sz="1400" dirty="0"/>
          </a:p>
        </p:txBody>
      </p:sp>
      <p:sp>
        <p:nvSpPr>
          <p:cNvPr id="28" name="Aim 6 card"/>
          <p:cNvSpPr/>
          <p:nvPr/>
        </p:nvSpPr>
        <p:spPr>
          <a:xfrm>
            <a:off x="8127797" y="3931920"/>
            <a:ext cx="3515258" cy="2331720"/>
          </a:xfrm>
          <a:prstGeom prst="roundRect">
            <a:avLst>
              <a:gd name="adj" fmla="val 3137"/>
            </a:avLst>
          </a:prstGeom>
          <a:solidFill>
            <a:schemeClr val="bg1"/>
          </a:solidFill>
          <a:ln/>
          <a:effectLst>
            <a:outerShdw sx="100000" sy="100000" kx="0" ky="0" algn="bl" rotWithShape="0" blurRad="101600" dist="25400" dir="5400000">
              <a:srgbClr val="6E6350">
                <a:alpha val="22000"/>
              </a:srgbClr>
            </a:outerShdw>
          </a:effectLst>
        </p:spPr>
      </p:sp>
      <p:sp>
        <p:nvSpPr>
          <p:cNvPr id="29" name="Aim 6 circle"/>
          <p:cNvSpPr/>
          <p:nvPr/>
        </p:nvSpPr>
        <p:spPr>
          <a:xfrm>
            <a:off x="8356397" y="4160520"/>
            <a:ext cx="548640" cy="548640"/>
          </a:xfrm>
          <a:prstGeom prst="ellipse">
            <a:avLst/>
          </a:prstGeom>
          <a:solidFill>
            <a:schemeClr val="accent1"/>
          </a:solidFill>
          <a:ln/>
        </p:spPr>
      </p:sp>
      <p:pic>
        <p:nvPicPr>
          <p:cNvPr id="30" name="Aim 6 icon" descr="smile icon">    </p:cNvPr>
          <p:cNvPicPr>
            <a:picLocks noChangeAspect="1"/>
          </p:cNvPicPr>
          <p:nvPr/>
        </p:nvPicPr>
        <p:blipFill>
          <a:blip r:embed="rId6"/>
          <a:stretch>
            <a:fillRect/>
          </a:stretch>
        </p:blipFill>
        <p:spPr>
          <a:xfrm>
            <a:off x="8488070" y="4292194"/>
            <a:ext cx="285293" cy="285293"/>
          </a:xfrm>
          <a:prstGeom prst="rect">
            <a:avLst/>
          </a:prstGeom>
        </p:spPr>
      </p:pic>
      <p:sp>
        <p:nvSpPr>
          <p:cNvPr id="31" name="Aim 6 heading"/>
          <p:cNvSpPr txBox="1"/>
          <p:nvPr/>
        </p:nvSpPr>
        <p:spPr>
          <a:xfrm>
            <a:off x="9042197" y="4114800"/>
            <a:ext cx="2417978" cy="640080"/>
          </a:xfrm>
          <a:prstGeom prst="rect">
            <a:avLst/>
          </a:prstGeom>
          <a:noFill/>
          <a:ln/>
        </p:spPr>
        <p:txBody>
          <a:bodyPr wrap="square" lIns="0" tIns="0" rIns="0" bIns="0" rtlCol="0" anchor="ctr"/>
          <a:lstStyle/>
          <a:p>
            <a:pPr indent="0" marL="0">
              <a:buNone/>
            </a:pPr>
            <a:r>
              <a:rPr lang="en-US" sz="1700" b="1" dirty="0">
                <a:solidFill>
                  <a:schemeClr val="tx1"/>
                </a:solidFill>
              </a:rPr>
              <a:t>Keep it fun and kind</a:t>
            </a:r>
            <a:endParaRPr lang="en-US" sz="1700" dirty="0"/>
          </a:p>
        </p:txBody>
      </p:sp>
      <p:sp>
        <p:nvSpPr>
          <p:cNvPr id="32" name="Aim 6 text"/>
          <p:cNvSpPr txBox="1"/>
          <p:nvPr/>
        </p:nvSpPr>
        <p:spPr>
          <a:xfrm>
            <a:off x="8356397" y="4800600"/>
            <a:ext cx="3058058" cy="1325880"/>
          </a:xfrm>
          <a:prstGeom prst="rect">
            <a:avLst/>
          </a:prstGeom>
          <a:noFill/>
          <a:ln/>
        </p:spPr>
        <p:txBody>
          <a:bodyPr wrap="square" lIns="0" tIns="0" rIns="0" bIns="0" rtlCol="0" anchor="t"/>
          <a:lstStyle/>
          <a:p>
            <a:pPr indent="0" marL="0">
              <a:buNone/>
            </a:pPr>
            <a:r>
              <a:rPr lang="en-US" sz="1400" dirty="0">
                <a:solidFill>
                  <a:schemeClr val="tx1"/>
                </a:solidFill>
              </a:rPr>
              <a:t>Levels, trophies, a buddy, fact stickers, daily missions, a day streak, boss battles, sprints against the child’s own best and a family goal. Siblings are never ranked; a missed day only restarts the streak.</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rPr>
              <a:t>How a round works</a:t>
            </a:r>
            <a:endParaRPr lang="en-US" sz="3600" dirty="0"/>
          </a:p>
        </p:txBody>
      </p:sp>
      <p:sp>
        <p:nvSpPr>
          <p:cNvPr id="3" name="Round intro"/>
          <p:cNvSpPr txBox="1"/>
          <p:nvPr/>
        </p:nvSpPr>
        <p:spPr>
          <a:xfrm>
            <a:off x="548640" y="1143000"/>
            <a:ext cx="11094415" cy="411480"/>
          </a:xfrm>
          <a:prstGeom prst="rect">
            <a:avLst/>
          </a:prstGeom>
          <a:noFill/>
          <a:ln/>
        </p:spPr>
        <p:txBody>
          <a:bodyPr wrap="square" lIns="0" tIns="0" rIns="0" bIns="0" rtlCol="0" anchor="ctr"/>
          <a:lstStyle/>
          <a:p>
            <a:pPr indent="0" marL="0">
              <a:buNone/>
            </a:pPr>
            <a:r>
              <a:rPr lang="en-US" sz="1600" dirty="0">
                <a:solidFill>
                  <a:schemeClr val="tx1"/>
                </a:solidFill>
              </a:rPr>
              <a:t>A round is ten questions on one topic. It opens with a short card on why the topic matters.</a:t>
            </a:r>
            <a:endParaRPr lang="en-US" sz="1600" dirty="0"/>
          </a:p>
        </p:txBody>
      </p:sp>
      <p:sp>
        <p:nvSpPr>
          <p:cNvPr id="4" name="Step 1 number"/>
          <p:cNvSpPr/>
          <p:nvPr/>
        </p:nvSpPr>
        <p:spPr>
          <a:xfrm>
            <a:off x="548640" y="1783080"/>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5" name="Step 1 heading"/>
          <p:cNvSpPr txBox="1"/>
          <p:nvPr/>
        </p:nvSpPr>
        <p:spPr>
          <a:xfrm>
            <a:off x="1143000" y="1783080"/>
            <a:ext cx="2875178" cy="457200"/>
          </a:xfrm>
          <a:prstGeom prst="rect">
            <a:avLst/>
          </a:prstGeom>
          <a:noFill/>
          <a:ln/>
        </p:spPr>
        <p:txBody>
          <a:bodyPr wrap="square" lIns="0" tIns="0" rIns="0" bIns="0" rtlCol="0" anchor="ctr"/>
          <a:lstStyle/>
          <a:p>
            <a:pPr indent="0" marL="0">
              <a:buNone/>
            </a:pPr>
            <a:r>
              <a:rPr lang="en-US" sz="1700" b="1" dirty="0">
                <a:solidFill>
                  <a:schemeClr val="tx1"/>
                </a:solidFill>
              </a:rPr>
              <a:t>Answer, then see why</a:t>
            </a:r>
            <a:endParaRPr lang="en-US" sz="1700" dirty="0"/>
          </a:p>
        </p:txBody>
      </p:sp>
      <p:sp>
        <p:nvSpPr>
          <p:cNvPr id="6" name="Step 1 screenshot shadow"/>
          <p:cNvSpPr/>
          <p:nvPr/>
        </p:nvSpPr>
        <p:spPr>
          <a:xfrm>
            <a:off x="612648" y="2487168"/>
            <a:ext cx="3451250" cy="2175284"/>
          </a:xfrm>
          <a:prstGeom prst="rect">
            <a:avLst/>
          </a:prstGeom>
          <a:solidFill>
            <a:schemeClr val="tx1"/>
          </a:solidFill>
          <a:ln/>
        </p:spPr>
      </p:sp>
      <p:pic>
        <p:nvPicPr>
          <p:cNvPr id="7" name="Step 1 screenshot" descr="A 3rd grade area question answered correctly, with the HERE'S WHY box explaining that both rectangles have an area of 36 square units.">    </p:cNvPr>
          <p:cNvPicPr>
            <a:picLocks noChangeAspect="1"/>
          </p:cNvPicPr>
          <p:nvPr/>
        </p:nvPicPr>
        <p:blipFill>
          <a:blip r:embed="rId1"/>
          <a:stretch>
            <a:fillRect/>
          </a:stretch>
        </p:blipFill>
        <p:spPr>
          <a:xfrm>
            <a:off x="548640" y="2423160"/>
            <a:ext cx="3451250" cy="2175284"/>
          </a:xfrm>
          <a:prstGeom prst="rect">
            <a:avLst/>
          </a:prstGeom>
        </p:spPr>
      </p:pic>
      <p:sp>
        <p:nvSpPr>
          <p:cNvPr id="8" name="Step 1 screenshot frame"/>
          <p:cNvSpPr/>
          <p:nvPr/>
        </p:nvSpPr>
        <p:spPr>
          <a:xfrm>
            <a:off x="548640" y="2423160"/>
            <a:ext cx="3451250" cy="2175284"/>
          </a:xfrm>
          <a:prstGeom prst="rect">
            <a:avLst/>
          </a:prstGeom>
          <a:ln w="15875">
            <a:solidFill>
              <a:schemeClr val="tx1"/>
            </a:solidFill>
            <a:prstDash val="solid"/>
          </a:ln>
        </p:spPr>
      </p:sp>
      <p:sp>
        <p:nvSpPr>
          <p:cNvPr id="9" name="Step 1 caption"/>
          <p:cNvSpPr txBox="1"/>
          <p:nvPr/>
        </p:nvSpPr>
        <p:spPr>
          <a:xfrm>
            <a:off x="548640" y="4735604"/>
            <a:ext cx="3515258" cy="274320"/>
          </a:xfrm>
          <a:prstGeom prst="rect">
            <a:avLst/>
          </a:prstGeom>
          <a:noFill/>
          <a:ln/>
        </p:spPr>
        <p:txBody>
          <a:bodyPr wrap="square" lIns="0" tIns="0" rIns="0" bIns="0" rtlCol="0" anchor="t"/>
          <a:lstStyle/>
          <a:p>
            <a:pPr indent="0" marL="0">
              <a:buNone/>
            </a:pPr>
            <a:r>
              <a:rPr lang="en-US" sz="1100" i="1" dirty="0">
                <a:solidFill>
                  <a:schemeClr val="tx2"/>
                </a:solidFill>
              </a:rPr>
              <a:t>3rd grade  ·  Area</a:t>
            </a:r>
            <a:endParaRPr lang="en-US" sz="1100" dirty="0"/>
          </a:p>
        </p:txBody>
      </p:sp>
      <p:sp>
        <p:nvSpPr>
          <p:cNvPr id="10" name="Step 1 text"/>
          <p:cNvSpPr txBox="1"/>
          <p:nvPr/>
        </p:nvSpPr>
        <p:spPr>
          <a:xfrm>
            <a:off x="548640" y="5055644"/>
            <a:ext cx="3515258" cy="1143000"/>
          </a:xfrm>
          <a:prstGeom prst="rect">
            <a:avLst/>
          </a:prstGeom>
          <a:noFill/>
          <a:ln/>
        </p:spPr>
        <p:txBody>
          <a:bodyPr wrap="square" lIns="0" tIns="0" rIns="0" bIns="0" rtlCol="0" anchor="t"/>
          <a:lstStyle/>
          <a:p>
            <a:pPr indent="0" marL="0">
              <a:buNone/>
            </a:pPr>
            <a:r>
              <a:rPr lang="en-US" sz="1400" dirty="0">
                <a:solidFill>
                  <a:schemeClr val="tx1"/>
                </a:solidFill>
              </a:rPr>
              <a:t>After every answer, right or wrong, HERE’S WHY explains it.</a:t>
            </a:r>
            <a:endParaRPr lang="en-US" sz="1400" dirty="0"/>
          </a:p>
        </p:txBody>
      </p:sp>
      <p:sp>
        <p:nvSpPr>
          <p:cNvPr id="11" name="Step 2 number"/>
          <p:cNvSpPr/>
          <p:nvPr/>
        </p:nvSpPr>
        <p:spPr>
          <a:xfrm>
            <a:off x="4338218" y="1783080"/>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12" name="Step 2 heading"/>
          <p:cNvSpPr txBox="1"/>
          <p:nvPr/>
        </p:nvSpPr>
        <p:spPr>
          <a:xfrm>
            <a:off x="4932578" y="1783080"/>
            <a:ext cx="2875178" cy="457200"/>
          </a:xfrm>
          <a:prstGeom prst="rect">
            <a:avLst/>
          </a:prstGeom>
          <a:noFill/>
          <a:ln/>
        </p:spPr>
        <p:txBody>
          <a:bodyPr wrap="square" lIns="0" tIns="0" rIns="0" bIns="0" rtlCol="0" anchor="ctr"/>
          <a:lstStyle/>
          <a:p>
            <a:pPr indent="0" marL="0">
              <a:buNone/>
            </a:pPr>
            <a:r>
              <a:rPr lang="en-US" sz="1700" b="1" dirty="0">
                <a:solidFill>
                  <a:schemeClr val="tx1"/>
                </a:solidFill>
              </a:rPr>
              <a:t>A hint and one more try</a:t>
            </a:r>
            <a:endParaRPr lang="en-US" sz="1700" dirty="0"/>
          </a:p>
        </p:txBody>
      </p:sp>
      <p:sp>
        <p:nvSpPr>
          <p:cNvPr id="13" name="Step 2 screenshot shadow"/>
          <p:cNvSpPr/>
          <p:nvPr/>
        </p:nvSpPr>
        <p:spPr>
          <a:xfrm>
            <a:off x="4402226" y="2487168"/>
            <a:ext cx="3451250" cy="2175284"/>
          </a:xfrm>
          <a:prstGeom prst="rect">
            <a:avLst/>
          </a:prstGeom>
          <a:solidFill>
            <a:schemeClr val="tx1"/>
          </a:solidFill>
          <a:ln/>
        </p:spPr>
      </p:sp>
      <p:pic>
        <p:nvPicPr>
          <p:cNvPr id="14" name="Step 2 screenshot" descr="A 5th grade fractions question after a wrong answer: the wrong choice is crossed out and a THINK AGAIN box gives a hint.">    </p:cNvPr>
          <p:cNvPicPr>
            <a:picLocks noChangeAspect="1"/>
          </p:cNvPicPr>
          <p:nvPr/>
        </p:nvPicPr>
        <p:blipFill>
          <a:blip r:embed="rId2"/>
          <a:stretch>
            <a:fillRect/>
          </a:stretch>
        </p:blipFill>
        <p:spPr>
          <a:xfrm>
            <a:off x="4338218" y="2423160"/>
            <a:ext cx="3451250" cy="2175284"/>
          </a:xfrm>
          <a:prstGeom prst="rect">
            <a:avLst/>
          </a:prstGeom>
        </p:spPr>
      </p:pic>
      <p:sp>
        <p:nvSpPr>
          <p:cNvPr id="15" name="Step 2 screenshot frame"/>
          <p:cNvSpPr/>
          <p:nvPr/>
        </p:nvSpPr>
        <p:spPr>
          <a:xfrm>
            <a:off x="4338218" y="2423160"/>
            <a:ext cx="3451250" cy="2175284"/>
          </a:xfrm>
          <a:prstGeom prst="rect">
            <a:avLst/>
          </a:prstGeom>
          <a:ln w="15875">
            <a:solidFill>
              <a:schemeClr val="tx1"/>
            </a:solidFill>
            <a:prstDash val="solid"/>
          </a:ln>
        </p:spPr>
      </p:sp>
      <p:sp>
        <p:nvSpPr>
          <p:cNvPr id="16" name="Step 2 caption"/>
          <p:cNvSpPr txBox="1"/>
          <p:nvPr/>
        </p:nvSpPr>
        <p:spPr>
          <a:xfrm>
            <a:off x="4338218" y="4735604"/>
            <a:ext cx="3515258" cy="274320"/>
          </a:xfrm>
          <a:prstGeom prst="rect">
            <a:avLst/>
          </a:prstGeom>
          <a:noFill/>
          <a:ln/>
        </p:spPr>
        <p:txBody>
          <a:bodyPr wrap="square" lIns="0" tIns="0" rIns="0" bIns="0" rtlCol="0" anchor="t"/>
          <a:lstStyle/>
          <a:p>
            <a:pPr indent="0" marL="0">
              <a:buNone/>
            </a:pPr>
            <a:r>
              <a:rPr lang="en-US" sz="1100" i="1" dirty="0">
                <a:solidFill>
                  <a:schemeClr val="tx2"/>
                </a:solidFill>
              </a:rPr>
              <a:t>5th grade  ·  Multiplying fractions</a:t>
            </a:r>
            <a:endParaRPr lang="en-US" sz="1100" dirty="0"/>
          </a:p>
        </p:txBody>
      </p:sp>
      <p:sp>
        <p:nvSpPr>
          <p:cNvPr id="17" name="Step 2 text"/>
          <p:cNvSpPr txBox="1"/>
          <p:nvPr/>
        </p:nvSpPr>
        <p:spPr>
          <a:xfrm>
            <a:off x="4338218" y="5055644"/>
            <a:ext cx="3515258" cy="1143000"/>
          </a:xfrm>
          <a:prstGeom prst="rect">
            <a:avLst/>
          </a:prstGeom>
          <a:noFill/>
          <a:ln/>
        </p:spPr>
        <p:txBody>
          <a:bodyPr wrap="square" lIns="0" tIns="0" rIns="0" bIns="0" rtlCol="0" anchor="t"/>
          <a:lstStyle/>
          <a:p>
            <a:pPr indent="0" marL="0">
              <a:buNone/>
            </a:pPr>
            <a:r>
              <a:rPr lang="en-US" sz="1400" dirty="0">
                <a:solidFill>
                  <a:schemeClr val="tx1"/>
                </a:solidFill>
              </a:rPr>
              <a:t>After a wrong answer on most question types, THINK AGAIN gives a hint and a second try. A parent can turn second tries off for test-style practice.</a:t>
            </a:r>
            <a:endParaRPr lang="en-US" sz="1400" dirty="0"/>
          </a:p>
        </p:txBody>
      </p:sp>
      <p:sp>
        <p:nvSpPr>
          <p:cNvPr id="18" name="Step 3 number"/>
          <p:cNvSpPr/>
          <p:nvPr/>
        </p:nvSpPr>
        <p:spPr>
          <a:xfrm>
            <a:off x="8127797" y="1783080"/>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19" name="Step 3 heading"/>
          <p:cNvSpPr txBox="1"/>
          <p:nvPr/>
        </p:nvSpPr>
        <p:spPr>
          <a:xfrm>
            <a:off x="8722157" y="1783080"/>
            <a:ext cx="2875178" cy="457200"/>
          </a:xfrm>
          <a:prstGeom prst="rect">
            <a:avLst/>
          </a:prstGeom>
          <a:noFill/>
          <a:ln/>
        </p:spPr>
        <p:txBody>
          <a:bodyPr wrap="square" lIns="0" tIns="0" rIns="0" bIns="0" rtlCol="0" anchor="ctr"/>
          <a:lstStyle/>
          <a:p>
            <a:pPr indent="0" marL="0">
              <a:buNone/>
            </a:pPr>
            <a:r>
              <a:rPr lang="en-US" sz="1700" b="1" dirty="0">
                <a:solidFill>
                  <a:schemeClr val="tx1"/>
                </a:solidFill>
              </a:rPr>
              <a:t>SHOW ME HOW, any time</a:t>
            </a:r>
            <a:endParaRPr lang="en-US" sz="1700" dirty="0"/>
          </a:p>
        </p:txBody>
      </p:sp>
      <p:sp>
        <p:nvSpPr>
          <p:cNvPr id="20" name="Step 3 screenshot shadow"/>
          <p:cNvSpPr/>
          <p:nvPr/>
        </p:nvSpPr>
        <p:spPr>
          <a:xfrm>
            <a:off x="8191805" y="2487168"/>
            <a:ext cx="3451250" cy="2175284"/>
          </a:xfrm>
          <a:prstGeom prst="rect">
            <a:avLst/>
          </a:prstGeom>
          <a:solidFill>
            <a:schemeClr val="tx1"/>
          </a:solidFill>
          <a:ln/>
        </p:spPr>
      </p:sp>
      <p:pic>
        <p:nvPicPr>
          <p:cNvPr id="21" name="Step 3 screenshot" descr="The SHOW ME HOW coach on a 3rd grade addition question, What is 465 + 278, showing the Partial Sums method, step 2 of 2.">    </p:cNvPr>
          <p:cNvPicPr>
            <a:picLocks noChangeAspect="1"/>
          </p:cNvPicPr>
          <p:nvPr/>
        </p:nvPicPr>
        <p:blipFill>
          <a:blip r:embed="rId3"/>
          <a:stretch>
            <a:fillRect/>
          </a:stretch>
        </p:blipFill>
        <p:spPr>
          <a:xfrm>
            <a:off x="8127797" y="2423160"/>
            <a:ext cx="3451250" cy="2175284"/>
          </a:xfrm>
          <a:prstGeom prst="rect">
            <a:avLst/>
          </a:prstGeom>
        </p:spPr>
      </p:pic>
      <p:sp>
        <p:nvSpPr>
          <p:cNvPr id="22" name="Step 3 screenshot frame"/>
          <p:cNvSpPr/>
          <p:nvPr/>
        </p:nvSpPr>
        <p:spPr>
          <a:xfrm>
            <a:off x="8127797" y="2423160"/>
            <a:ext cx="3451250" cy="2175284"/>
          </a:xfrm>
          <a:prstGeom prst="rect">
            <a:avLst/>
          </a:prstGeom>
          <a:ln w="15875">
            <a:solidFill>
              <a:schemeClr val="tx1"/>
            </a:solidFill>
            <a:prstDash val="solid"/>
          </a:ln>
        </p:spPr>
      </p:sp>
      <p:sp>
        <p:nvSpPr>
          <p:cNvPr id="23" name="Step 3 caption"/>
          <p:cNvSpPr txBox="1"/>
          <p:nvPr/>
        </p:nvSpPr>
        <p:spPr>
          <a:xfrm>
            <a:off x="8127797" y="4735604"/>
            <a:ext cx="3515258" cy="274320"/>
          </a:xfrm>
          <a:prstGeom prst="rect">
            <a:avLst/>
          </a:prstGeom>
          <a:noFill/>
          <a:ln/>
        </p:spPr>
        <p:txBody>
          <a:bodyPr wrap="square" lIns="0" tIns="0" rIns="0" bIns="0" rtlCol="0" anchor="t"/>
          <a:lstStyle/>
          <a:p>
            <a:pPr indent="0" marL="0">
              <a:buNone/>
            </a:pPr>
            <a:r>
              <a:rPr lang="en-US" sz="1100" i="1" dirty="0">
                <a:solidFill>
                  <a:schemeClr val="tx2"/>
                </a:solidFill>
              </a:rPr>
              <a:t>3rd grade  ·  Partial sums</a:t>
            </a:r>
            <a:endParaRPr lang="en-US" sz="1100" dirty="0"/>
          </a:p>
        </p:txBody>
      </p:sp>
      <p:sp>
        <p:nvSpPr>
          <p:cNvPr id="24" name="Step 3 text"/>
          <p:cNvSpPr txBox="1"/>
          <p:nvPr/>
        </p:nvSpPr>
        <p:spPr>
          <a:xfrm>
            <a:off x="8127797" y="5055644"/>
            <a:ext cx="3515258" cy="1143000"/>
          </a:xfrm>
          <a:prstGeom prst="rect">
            <a:avLst/>
          </a:prstGeom>
          <a:noFill/>
          <a:ln/>
        </p:spPr>
        <p:txBody>
          <a:bodyPr wrap="square" lIns="0" tIns="0" rIns="0" bIns="0" rtlCol="0" anchor="t"/>
          <a:lstStyle/>
          <a:p>
            <a:pPr indent="0" marL="0">
              <a:buNone/>
            </a:pPr>
            <a:r>
              <a:rPr lang="en-US" sz="1400" dirty="0">
                <a:solidFill>
                  <a:schemeClr val="tx1"/>
                </a:solidFill>
              </a:rPr>
              <a:t>The coach walks through the method Reveal Math or CKLA teaches, step by step, with the question’s own numbers, then hands the question back.</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rPr>
              <a:t>For children who cannot read yet</a:t>
            </a:r>
            <a:endParaRPr lang="en-US" sz="3600" dirty="0"/>
          </a:p>
        </p:txBody>
      </p:sp>
      <p:sp>
        <p:nvSpPr>
          <p:cNvPr id="3" name="Reading column 1 circle"/>
          <p:cNvSpPr/>
          <p:nvPr/>
        </p:nvSpPr>
        <p:spPr>
          <a:xfrm>
            <a:off x="548640" y="1280160"/>
            <a:ext cx="502920" cy="502920"/>
          </a:xfrm>
          <a:prstGeom prst="ellipse">
            <a:avLst/>
          </a:prstGeom>
          <a:solidFill>
            <a:schemeClr val="accent1"/>
          </a:solidFill>
          <a:ln/>
        </p:spPr>
      </p:sp>
      <p:pic>
        <p:nvPicPr>
          <p:cNvPr id="4" name="Reading column 1 icon" descr="volume up icon">    </p:cNvPr>
          <p:cNvPicPr>
            <a:picLocks noChangeAspect="1"/>
          </p:cNvPicPr>
          <p:nvPr/>
        </p:nvPicPr>
        <p:blipFill>
          <a:blip r:embed="rId1"/>
          <a:stretch>
            <a:fillRect/>
          </a:stretch>
        </p:blipFill>
        <p:spPr>
          <a:xfrm>
            <a:off x="669341" y="1400861"/>
            <a:ext cx="261518" cy="261518"/>
          </a:xfrm>
          <a:prstGeom prst="rect">
            <a:avLst/>
          </a:prstGeom>
        </p:spPr>
      </p:pic>
      <p:sp>
        <p:nvSpPr>
          <p:cNvPr id="5" name="Reading column 1 heading"/>
          <p:cNvSpPr txBox="1"/>
          <p:nvPr/>
        </p:nvSpPr>
        <p:spPr>
          <a:xfrm>
            <a:off x="1188720" y="1280160"/>
            <a:ext cx="4769968" cy="502920"/>
          </a:xfrm>
          <a:prstGeom prst="rect">
            <a:avLst/>
          </a:prstGeom>
          <a:noFill/>
          <a:ln/>
        </p:spPr>
        <p:txBody>
          <a:bodyPr wrap="square" lIns="0" tIns="0" rIns="0" bIns="0" rtlCol="0" anchor="ctr"/>
          <a:lstStyle/>
          <a:p>
            <a:pPr indent="0" marL="0">
              <a:buNone/>
            </a:pPr>
            <a:r>
              <a:rPr lang="en-US" sz="2000" b="1" dirty="0">
                <a:solidFill>
                  <a:schemeClr val="tx1"/>
                </a:solidFill>
              </a:rPr>
              <a:t>Read-aloud for early readers</a:t>
            </a:r>
            <a:endParaRPr lang="en-US" sz="2000" dirty="0"/>
          </a:p>
        </p:txBody>
      </p:sp>
      <p:sp>
        <p:nvSpPr>
          <p:cNvPr id="6" name="Reading column 1 screenshot shadow"/>
          <p:cNvSpPr/>
          <p:nvPr/>
        </p:nvSpPr>
        <p:spPr>
          <a:xfrm>
            <a:off x="612648" y="2002536"/>
            <a:ext cx="5346040" cy="2903667"/>
          </a:xfrm>
          <a:prstGeom prst="rect">
            <a:avLst/>
          </a:prstGeom>
          <a:solidFill>
            <a:schemeClr val="tx1"/>
          </a:solidFill>
          <a:ln/>
        </p:spPr>
      </p:sp>
      <p:pic>
        <p:nvPicPr>
          <p:cNvPr id="7" name="Reading column 1 screenshot" descr="A kindergarten question, Which letter does DOG start with, with a READ IT button, four answer tiles numbered 1 to 4, each with a speaker button, and AUTO read-aloud switched on.">    </p:cNvPr>
          <p:cNvPicPr>
            <a:picLocks noChangeAspect="1"/>
          </p:cNvPicPr>
          <p:nvPr/>
        </p:nvPicPr>
        <p:blipFill>
          <a:blip r:embed="rId2"/>
          <a:stretch>
            <a:fillRect/>
          </a:stretch>
        </p:blipFill>
        <p:spPr>
          <a:xfrm>
            <a:off x="548640" y="1938528"/>
            <a:ext cx="5346040" cy="2903667"/>
          </a:xfrm>
          <a:prstGeom prst="rect">
            <a:avLst/>
          </a:prstGeom>
        </p:spPr>
      </p:pic>
      <p:sp>
        <p:nvSpPr>
          <p:cNvPr id="8" name="Reading column 1 screenshot frame"/>
          <p:cNvSpPr/>
          <p:nvPr/>
        </p:nvSpPr>
        <p:spPr>
          <a:xfrm>
            <a:off x="548640" y="1938528"/>
            <a:ext cx="5346040" cy="2903667"/>
          </a:xfrm>
          <a:prstGeom prst="rect">
            <a:avLst/>
          </a:prstGeom>
          <a:ln w="15875">
            <a:solidFill>
              <a:schemeClr val="tx1"/>
            </a:solidFill>
            <a:prstDash val="solid"/>
          </a:ln>
        </p:spPr>
      </p:sp>
      <p:sp>
        <p:nvSpPr>
          <p:cNvPr id="9" name="Reading column 1 caption"/>
          <p:cNvSpPr txBox="1"/>
          <p:nvPr/>
        </p:nvSpPr>
        <p:spPr>
          <a:xfrm>
            <a:off x="548640" y="4951923"/>
            <a:ext cx="5410048" cy="274320"/>
          </a:xfrm>
          <a:prstGeom prst="rect">
            <a:avLst/>
          </a:prstGeom>
          <a:noFill/>
          <a:ln/>
        </p:spPr>
        <p:txBody>
          <a:bodyPr wrap="square" lIns="0" tIns="0" rIns="0" bIns="0" rtlCol="0" anchor="t"/>
          <a:lstStyle/>
          <a:p>
            <a:pPr indent="0" marL="0">
              <a:buNone/>
            </a:pPr>
            <a:r>
              <a:rPr lang="en-US" sz="1100" i="1" dirty="0">
                <a:solidFill>
                  <a:schemeClr val="tx2"/>
                </a:solidFill>
              </a:rPr>
              <a:t>Kindergarten  ·  Letter sounds: READ IT, a speaker on each numbered answer, AUTO on</a:t>
            </a:r>
            <a:endParaRPr lang="en-US" sz="1100" dirty="0"/>
          </a:p>
        </p:txBody>
      </p:sp>
      <p:sp>
        <p:nvSpPr>
          <p:cNvPr id="10" name="Reading column 1 points"/>
          <p:cNvSpPr txBox="1"/>
          <p:nvPr/>
        </p:nvSpPr>
        <p:spPr>
          <a:xfrm>
            <a:off x="548640" y="5262819"/>
            <a:ext cx="5410048" cy="987552"/>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Every kindergarten and 1st grade question, answer and story has a speaker button. The kindergartener’s questions read themselves aloud.</a:t>
            </a:r>
            <a:endParaRPr lang="en-US" sz="1400" dirty="0"/>
          </a:p>
          <a:p>
            <a:pPr marL="203200" indent="-203200">
              <a:spcAft>
                <a:spcPts val="400"/>
              </a:spcAft>
              <a:buSzPct val="100000"/>
              <a:buChar char="•"/>
            </a:pPr>
            <a:r>
              <a:rPr lang="en-US" sz="1400" dirty="0">
                <a:solidFill>
                  <a:schemeClr val="tx1"/>
                </a:solidFill>
              </a:rPr>
              <a:t>Letter sounds are read as sounds, not names. One limit: when blending a word, the voice says /k/ and /t/ as “kuh” and “tuh”.</a:t>
            </a:r>
            <a:endParaRPr lang="en-US" sz="1400" dirty="0"/>
          </a:p>
        </p:txBody>
      </p:sp>
      <p:sp>
        <p:nvSpPr>
          <p:cNvPr id="11" name="Reading column 2 circle"/>
          <p:cNvSpPr/>
          <p:nvPr/>
        </p:nvSpPr>
        <p:spPr>
          <a:xfrm>
            <a:off x="6233008" y="1280160"/>
            <a:ext cx="502920" cy="502920"/>
          </a:xfrm>
          <a:prstGeom prst="ellipse">
            <a:avLst/>
          </a:prstGeom>
          <a:solidFill>
            <a:schemeClr val="accent1"/>
          </a:solidFill>
          <a:ln/>
        </p:spPr>
      </p:sp>
      <p:pic>
        <p:nvPicPr>
          <p:cNvPr id="12" name="Reading column 2 icon" descr="road icon">    </p:cNvPr>
          <p:cNvPicPr>
            <a:picLocks noChangeAspect="1"/>
          </p:cNvPicPr>
          <p:nvPr/>
        </p:nvPicPr>
        <p:blipFill>
          <a:blip r:embed="rId3"/>
          <a:stretch>
            <a:fillRect/>
          </a:stretch>
        </p:blipFill>
        <p:spPr>
          <a:xfrm>
            <a:off x="6353708" y="1400861"/>
            <a:ext cx="261518" cy="261518"/>
          </a:xfrm>
          <a:prstGeom prst="rect">
            <a:avLst/>
          </a:prstGeom>
        </p:spPr>
      </p:pic>
      <p:sp>
        <p:nvSpPr>
          <p:cNvPr id="13" name="Reading column 2 heading"/>
          <p:cNvSpPr txBox="1"/>
          <p:nvPr/>
        </p:nvSpPr>
        <p:spPr>
          <a:xfrm>
            <a:off x="6873088" y="1280160"/>
            <a:ext cx="4769968" cy="502920"/>
          </a:xfrm>
          <a:prstGeom prst="rect">
            <a:avLst/>
          </a:prstGeom>
          <a:noFill/>
          <a:ln/>
        </p:spPr>
        <p:txBody>
          <a:bodyPr wrap="square" lIns="0" tIns="0" rIns="0" bIns="0" rtlCol="0" anchor="ctr"/>
          <a:lstStyle/>
          <a:p>
            <a:pPr indent="0" marL="0">
              <a:buNone/>
            </a:pPr>
            <a:r>
              <a:rPr lang="en-US" sz="2000" b="1" dirty="0">
                <a:solidFill>
                  <a:schemeClr val="tx1"/>
                </a:solidFill>
              </a:rPr>
              <a:t>The Reading Road</a:t>
            </a:r>
            <a:endParaRPr lang="en-US" sz="2000" dirty="0"/>
          </a:p>
        </p:txBody>
      </p:sp>
      <p:sp>
        <p:nvSpPr>
          <p:cNvPr id="14" name="Reading column 2 screenshot shadow"/>
          <p:cNvSpPr/>
          <p:nvPr/>
        </p:nvSpPr>
        <p:spPr>
          <a:xfrm>
            <a:off x="6297016" y="2002536"/>
            <a:ext cx="5346040" cy="2903667"/>
          </a:xfrm>
          <a:prstGeom prst="rect">
            <a:avLst/>
          </a:prstGeom>
          <a:solidFill>
            <a:schemeClr val="tx1"/>
          </a:solidFill>
          <a:ln/>
        </p:spPr>
      </p:sp>
      <p:pic>
        <p:nvPicPr>
          <p:cNvPr id="15" name="Reading column 2 screenshot" descr="A Reading Road story page in kindergarten: Nan sat on a mat, with picture clues, a star on the Tricky Word a, and a READ THIS PAGE TO ME button.">    </p:cNvPr>
          <p:cNvPicPr>
            <a:picLocks noChangeAspect="1"/>
          </p:cNvPicPr>
          <p:nvPr/>
        </p:nvPicPr>
        <p:blipFill>
          <a:blip r:embed="rId4"/>
          <a:stretch>
            <a:fillRect/>
          </a:stretch>
        </p:blipFill>
        <p:spPr>
          <a:xfrm>
            <a:off x="6233008" y="1938528"/>
            <a:ext cx="5346040" cy="2903667"/>
          </a:xfrm>
          <a:prstGeom prst="rect">
            <a:avLst/>
          </a:prstGeom>
        </p:spPr>
      </p:pic>
      <p:sp>
        <p:nvSpPr>
          <p:cNvPr id="16" name="Reading column 2 screenshot frame"/>
          <p:cNvSpPr/>
          <p:nvPr/>
        </p:nvSpPr>
        <p:spPr>
          <a:xfrm>
            <a:off x="6233008" y="1938528"/>
            <a:ext cx="5346040" cy="2903667"/>
          </a:xfrm>
          <a:prstGeom prst="rect">
            <a:avLst/>
          </a:prstGeom>
          <a:ln w="15875">
            <a:solidFill>
              <a:schemeClr val="tx1"/>
            </a:solidFill>
            <a:prstDash val="solid"/>
          </a:ln>
        </p:spPr>
      </p:sp>
      <p:sp>
        <p:nvSpPr>
          <p:cNvPr id="17" name="Reading column 2 caption"/>
          <p:cNvSpPr txBox="1"/>
          <p:nvPr/>
        </p:nvSpPr>
        <p:spPr>
          <a:xfrm>
            <a:off x="6233008" y="4951923"/>
            <a:ext cx="5410048" cy="274320"/>
          </a:xfrm>
          <a:prstGeom prst="rect">
            <a:avLst/>
          </a:prstGeom>
          <a:noFill/>
          <a:ln/>
        </p:spPr>
        <p:txBody>
          <a:bodyPr wrap="square" lIns="0" tIns="0" rIns="0" bIns="0" rtlCol="0" anchor="t"/>
          <a:lstStyle/>
          <a:p>
            <a:pPr indent="0" marL="0">
              <a:buNone/>
            </a:pPr>
            <a:r>
              <a:rPr lang="en-US" sz="1100" i="1" dirty="0">
                <a:solidFill>
                  <a:schemeClr val="tx2"/>
                </a:solidFill>
              </a:rPr>
              <a:t>Letter Lagoon, stop 3: a story page. The star marks a Tricky Word.</a:t>
            </a:r>
            <a:endParaRPr lang="en-US" sz="1100" dirty="0"/>
          </a:p>
        </p:txBody>
      </p:sp>
      <p:sp>
        <p:nvSpPr>
          <p:cNvPr id="18" name="Reading column 2 points"/>
          <p:cNvSpPr txBox="1"/>
          <p:nvPr/>
        </p:nvSpPr>
        <p:spPr>
          <a:xfrm>
            <a:off x="6233008" y="5262819"/>
            <a:ext cx="5410048" cy="987552"/>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11 lands and 40 stops, from first letter sounds to comprehension, in the order Amplify CKLA teaches the sounds.</a:t>
            </a:r>
            <a:endParaRPr lang="en-US" sz="1400" dirty="0"/>
          </a:p>
          <a:p>
            <a:pPr marL="203200" indent="-203200">
              <a:spcAft>
                <a:spcPts val="400"/>
              </a:spcAft>
              <a:buSzPct val="100000"/>
              <a:buChar char="•"/>
            </a:pPr>
            <a:r>
              <a:rPr lang="en-US" sz="1400" dirty="0">
                <a:solidFill>
                  <a:schemeClr val="tx1"/>
                </a:solidFill>
              </a:rPr>
              <a:t>Each stop has learn cards, a story, games and questions. From stop 6 on, the child reads the story with only what the Road has taught.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rPr>
              <a:t>What it follows</a:t>
            </a:r>
            <a:endParaRPr lang="en-US" sz="3600" dirty="0"/>
          </a:p>
        </p:txBody>
      </p:sp>
      <p:sp>
        <p:nvSpPr>
          <p:cNvPr id="3" name="Follows 1 circle"/>
          <p:cNvSpPr/>
          <p:nvPr/>
        </p:nvSpPr>
        <p:spPr>
          <a:xfrm>
            <a:off x="548640" y="1371600"/>
            <a:ext cx="548640" cy="548640"/>
          </a:xfrm>
          <a:prstGeom prst="ellipse">
            <a:avLst/>
          </a:prstGeom>
          <a:solidFill>
            <a:schemeClr val="accent4"/>
          </a:solidFill>
          <a:ln/>
        </p:spPr>
      </p:sp>
      <p:pic>
        <p:nvPicPr>
          <p:cNvPr id="4" name="Follows 1 icon" descr="book open icon">    </p:cNvPr>
          <p:cNvPicPr>
            <a:picLocks noChangeAspect="1"/>
          </p:cNvPicPr>
          <p:nvPr/>
        </p:nvPicPr>
        <p:blipFill>
          <a:blip r:embed="rId1"/>
          <a:stretch>
            <a:fillRect/>
          </a:stretch>
        </p:blipFill>
        <p:spPr>
          <a:xfrm>
            <a:off x="680314" y="1503274"/>
            <a:ext cx="285293" cy="285293"/>
          </a:xfrm>
          <a:prstGeom prst="rect">
            <a:avLst/>
          </a:prstGeom>
        </p:spPr>
      </p:pic>
      <p:sp>
        <p:nvSpPr>
          <p:cNvPr id="5" name="Follows 1 text"/>
          <p:cNvSpPr txBox="1"/>
          <p:nvPr/>
        </p:nvSpPr>
        <p:spPr>
          <a:xfrm>
            <a:off x="1325880" y="1325880"/>
            <a:ext cx="5806440" cy="964692"/>
          </a:xfrm>
          <a:prstGeom prst="rect">
            <a:avLst/>
          </a:prstGeom>
          <a:noFill/>
          <a:ln/>
        </p:spPr>
        <p:txBody>
          <a:bodyPr wrap="square" lIns="0" tIns="0" rIns="0" bIns="0" rtlCol="0" anchor="t"/>
          <a:lstStyle/>
          <a:p>
            <a:pPr indent="0" marL="0">
              <a:buNone/>
            </a:pPr>
            <a:r>
              <a:rPr lang="en-US" sz="1600" b="1" dirty="0">
                <a:solidFill>
                  <a:schemeClr val="tx1"/>
                </a:solidFill>
              </a:rPr>
              <a:t>Reading and writing</a:t>
            </a:r>
            <a:endParaRPr lang="en-US" sz="1600" dirty="0"/>
          </a:p>
          <a:p>
            <a:pPr indent="0" marL="0">
              <a:buNone/>
            </a:pPr>
            <a:r>
              <a:rPr lang="en-US" sz="1400" dirty="0">
                <a:solidFill>
                  <a:schemeClr val="tx1"/>
                </a:solidFill>
              </a:rPr>
              <a:t>Amplify CKLA, which AACPS uses in K-5. Reading packs follow each grade’s CKLA units (2nd edition). Phonics follows CKLA Skills.</a:t>
            </a:r>
            <a:endParaRPr lang="en-US" sz="1600" dirty="0"/>
          </a:p>
        </p:txBody>
      </p:sp>
      <p:sp>
        <p:nvSpPr>
          <p:cNvPr id="6" name="Follows 2 circle"/>
          <p:cNvSpPr/>
          <p:nvPr/>
        </p:nvSpPr>
        <p:spPr>
          <a:xfrm>
            <a:off x="548640" y="2519172"/>
            <a:ext cx="548640" cy="548640"/>
          </a:xfrm>
          <a:prstGeom prst="ellipse">
            <a:avLst/>
          </a:prstGeom>
          <a:solidFill>
            <a:schemeClr val="accent5"/>
          </a:solidFill>
          <a:ln/>
        </p:spPr>
      </p:sp>
      <p:pic>
        <p:nvPicPr>
          <p:cNvPr id="7" name="Follows 2 icon" descr="calculator icon">    </p:cNvPr>
          <p:cNvPicPr>
            <a:picLocks noChangeAspect="1"/>
          </p:cNvPicPr>
          <p:nvPr/>
        </p:nvPicPr>
        <p:blipFill>
          <a:blip r:embed="rId2"/>
          <a:stretch>
            <a:fillRect/>
          </a:stretch>
        </p:blipFill>
        <p:spPr>
          <a:xfrm>
            <a:off x="680314" y="2650846"/>
            <a:ext cx="285293" cy="285293"/>
          </a:xfrm>
          <a:prstGeom prst="rect">
            <a:avLst/>
          </a:prstGeom>
        </p:spPr>
      </p:pic>
      <p:sp>
        <p:nvSpPr>
          <p:cNvPr id="8" name="Follows 2 text"/>
          <p:cNvSpPr txBox="1"/>
          <p:nvPr/>
        </p:nvSpPr>
        <p:spPr>
          <a:xfrm>
            <a:off x="1325880" y="2473452"/>
            <a:ext cx="5806440" cy="740664"/>
          </a:xfrm>
          <a:prstGeom prst="rect">
            <a:avLst/>
          </a:prstGeom>
          <a:noFill/>
          <a:ln/>
        </p:spPr>
        <p:txBody>
          <a:bodyPr wrap="square" lIns="0" tIns="0" rIns="0" bIns="0" rtlCol="0" anchor="t"/>
          <a:lstStyle/>
          <a:p>
            <a:pPr indent="0" marL="0">
              <a:buNone/>
            </a:pPr>
            <a:r>
              <a:rPr lang="en-US" sz="1600" b="1" dirty="0">
                <a:solidFill>
                  <a:schemeClr val="tx1"/>
                </a:solidFill>
              </a:rPr>
              <a:t>Math</a:t>
            </a:r>
            <a:endParaRPr lang="en-US" sz="1600" dirty="0"/>
          </a:p>
          <a:p>
            <a:pPr indent="0" marL="0">
              <a:buNone/>
            </a:pPr>
            <a:r>
              <a:rPr lang="en-US" sz="1400" dirty="0">
                <a:solidFill>
                  <a:schemeClr val="tx1"/>
                </a:solidFill>
              </a:rPr>
              <a:t>McGraw Hill Reveal Math, which AACPS uses in K-5, and Maryland’s revised math standards (adopted July 2025, in effect this school year).</a:t>
            </a:r>
            <a:endParaRPr lang="en-US" sz="1600" dirty="0"/>
          </a:p>
        </p:txBody>
      </p:sp>
      <p:sp>
        <p:nvSpPr>
          <p:cNvPr id="9" name="Follows 3 circle"/>
          <p:cNvSpPr/>
          <p:nvPr/>
        </p:nvSpPr>
        <p:spPr>
          <a:xfrm>
            <a:off x="548640" y="3442716"/>
            <a:ext cx="548640" cy="548640"/>
          </a:xfrm>
          <a:prstGeom prst="ellipse">
            <a:avLst/>
          </a:prstGeom>
          <a:solidFill>
            <a:schemeClr val="accent1"/>
          </a:solidFill>
          <a:ln/>
        </p:spPr>
      </p:sp>
      <p:pic>
        <p:nvPicPr>
          <p:cNvPr id="10" name="Follows 3 icon" descr="flask icon">    </p:cNvPr>
          <p:cNvPicPr>
            <a:picLocks noChangeAspect="1"/>
          </p:cNvPicPr>
          <p:nvPr/>
        </p:nvPicPr>
        <p:blipFill>
          <a:blip r:embed="rId3"/>
          <a:stretch>
            <a:fillRect/>
          </a:stretch>
        </p:blipFill>
        <p:spPr>
          <a:xfrm>
            <a:off x="680314" y="3574390"/>
            <a:ext cx="285293" cy="285293"/>
          </a:xfrm>
          <a:prstGeom prst="rect">
            <a:avLst/>
          </a:prstGeom>
        </p:spPr>
      </p:pic>
      <p:sp>
        <p:nvSpPr>
          <p:cNvPr id="11" name="Follows 3 text"/>
          <p:cNvSpPr txBox="1"/>
          <p:nvPr/>
        </p:nvSpPr>
        <p:spPr>
          <a:xfrm>
            <a:off x="1325880" y="3396996"/>
            <a:ext cx="5806440" cy="740664"/>
          </a:xfrm>
          <a:prstGeom prst="rect">
            <a:avLst/>
          </a:prstGeom>
          <a:noFill/>
          <a:ln/>
        </p:spPr>
        <p:txBody>
          <a:bodyPr wrap="square" lIns="0" tIns="0" rIns="0" bIns="0" rtlCol="0" anchor="t"/>
          <a:lstStyle/>
          <a:p>
            <a:pPr indent="0" marL="0">
              <a:buNone/>
            </a:pPr>
            <a:r>
              <a:rPr lang="en-US" sz="1600" b="1" dirty="0">
                <a:solidFill>
                  <a:schemeClr val="tx1"/>
                </a:solidFill>
              </a:rPr>
              <a:t>Science</a:t>
            </a:r>
            <a:endParaRPr lang="en-US" sz="1600" dirty="0"/>
          </a:p>
          <a:p>
            <a:pPr indent="0" marL="0">
              <a:buNone/>
            </a:pPr>
            <a:r>
              <a:rPr lang="en-US" sz="1400" dirty="0">
                <a:solidFill>
                  <a:schemeClr val="tx1"/>
                </a:solidFill>
              </a:rPr>
              <a:t>Maryland’s NGSS-based standards. The grade 5 science test (MISA) covers grades 3-5, so 4th grade science stays available to the 5th grader.</a:t>
            </a:r>
            <a:endParaRPr lang="en-US" sz="1600" dirty="0"/>
          </a:p>
        </p:txBody>
      </p:sp>
      <p:sp>
        <p:nvSpPr>
          <p:cNvPr id="12" name="Follows 4 circle"/>
          <p:cNvSpPr/>
          <p:nvPr/>
        </p:nvSpPr>
        <p:spPr>
          <a:xfrm>
            <a:off x="548640" y="4366260"/>
            <a:ext cx="548640" cy="548640"/>
          </a:xfrm>
          <a:prstGeom prst="ellipse">
            <a:avLst/>
          </a:prstGeom>
          <a:solidFill>
            <a:schemeClr val="tx2"/>
          </a:solidFill>
          <a:ln/>
        </p:spPr>
      </p:sp>
      <p:pic>
        <p:nvPicPr>
          <p:cNvPr id="13" name="Follows 4 icon" descr="landmark icon">    </p:cNvPr>
          <p:cNvPicPr>
            <a:picLocks noChangeAspect="1"/>
          </p:cNvPicPr>
          <p:nvPr/>
        </p:nvPicPr>
        <p:blipFill>
          <a:blip r:embed="rId4"/>
          <a:stretch>
            <a:fillRect/>
          </a:stretch>
        </p:blipFill>
        <p:spPr>
          <a:xfrm>
            <a:off x="680314" y="4497934"/>
            <a:ext cx="285293" cy="285293"/>
          </a:xfrm>
          <a:prstGeom prst="rect">
            <a:avLst/>
          </a:prstGeom>
        </p:spPr>
      </p:pic>
      <p:sp>
        <p:nvSpPr>
          <p:cNvPr id="14" name="Follows 4 text"/>
          <p:cNvSpPr txBox="1"/>
          <p:nvPr/>
        </p:nvSpPr>
        <p:spPr>
          <a:xfrm>
            <a:off x="1325880" y="4320540"/>
            <a:ext cx="5806440" cy="685800"/>
          </a:xfrm>
          <a:prstGeom prst="rect">
            <a:avLst/>
          </a:prstGeom>
          <a:noFill/>
          <a:ln/>
        </p:spPr>
        <p:txBody>
          <a:bodyPr wrap="square" lIns="0" tIns="0" rIns="0" bIns="0" rtlCol="0" anchor="t"/>
          <a:lstStyle/>
          <a:p>
            <a:pPr indent="0" marL="0">
              <a:buNone/>
            </a:pPr>
            <a:r>
              <a:rPr lang="en-US" sz="1600" b="1" dirty="0">
                <a:solidFill>
                  <a:schemeClr val="tx1"/>
                </a:solidFill>
              </a:rPr>
              <a:t>Social studies</a:t>
            </a:r>
            <a:endParaRPr lang="en-US" sz="1600" dirty="0"/>
          </a:p>
          <a:p>
            <a:pPr indent="0" marL="0">
              <a:buNone/>
            </a:pPr>
            <a:r>
              <a:rPr lang="en-US" sz="1400" dirty="0">
                <a:solidFill>
                  <a:schemeClr val="tx1"/>
                </a:solidFill>
              </a:rPr>
              <a:t>Maryland’s social studies framework, revised in 2025.</a:t>
            </a:r>
            <a:endParaRPr lang="en-US" sz="1600" dirty="0"/>
          </a:p>
        </p:txBody>
      </p:sp>
      <p:sp>
        <p:nvSpPr>
          <p:cNvPr id="15" name="Follows 5 circle"/>
          <p:cNvSpPr/>
          <p:nvPr/>
        </p:nvSpPr>
        <p:spPr>
          <a:xfrm>
            <a:off x="548640" y="5234940"/>
            <a:ext cx="548640" cy="548640"/>
          </a:xfrm>
          <a:prstGeom prst="ellipse">
            <a:avLst/>
          </a:prstGeom>
          <a:solidFill>
            <a:schemeClr val="accent2"/>
          </a:solidFill>
          <a:ln/>
        </p:spPr>
      </p:sp>
      <p:pic>
        <p:nvPicPr>
          <p:cNvPr id="16" name="Follows 5 icon" descr="clipboard check icon">    </p:cNvPr>
          <p:cNvPicPr>
            <a:picLocks noChangeAspect="1"/>
          </p:cNvPicPr>
          <p:nvPr/>
        </p:nvPicPr>
        <p:blipFill>
          <a:blip r:embed="rId5"/>
          <a:stretch>
            <a:fillRect/>
          </a:stretch>
        </p:blipFill>
        <p:spPr>
          <a:xfrm>
            <a:off x="680314" y="5366614"/>
            <a:ext cx="285293" cy="285293"/>
          </a:xfrm>
          <a:prstGeom prst="rect">
            <a:avLst/>
          </a:prstGeom>
        </p:spPr>
      </p:pic>
      <p:sp>
        <p:nvSpPr>
          <p:cNvPr id="17" name="Follows 5 text"/>
          <p:cNvSpPr txBox="1"/>
          <p:nvPr/>
        </p:nvSpPr>
        <p:spPr>
          <a:xfrm>
            <a:off x="1325880" y="5189220"/>
            <a:ext cx="5806440" cy="740664"/>
          </a:xfrm>
          <a:prstGeom prst="rect">
            <a:avLst/>
          </a:prstGeom>
          <a:noFill/>
          <a:ln/>
        </p:spPr>
        <p:txBody>
          <a:bodyPr wrap="square" lIns="0" tIns="0" rIns="0" bIns="0" rtlCol="0" anchor="t"/>
          <a:lstStyle/>
          <a:p>
            <a:pPr indent="0" marL="0">
              <a:buNone/>
            </a:pPr>
            <a:r>
              <a:rPr lang="en-US" sz="1600" b="1" dirty="0">
                <a:solidFill>
                  <a:schemeClr val="tx1"/>
                </a:solidFill>
              </a:rPr>
              <a:t>Tests</a:t>
            </a:r>
            <a:endParaRPr lang="en-US" sz="1600" dirty="0"/>
          </a:p>
          <a:p>
            <a:pPr indent="0" marL="0">
              <a:buNone/>
            </a:pPr>
            <a:r>
              <a:rPr lang="en-US" sz="1400" dirty="0">
                <a:solidFill>
                  <a:schemeClr val="tx1"/>
                </a:solidFill>
              </a:rPr>
              <a:t>Item formats like those on MSTAR, which replaces MCAP for grades 3-8 reading and math from spring 2027.</a:t>
            </a:r>
            <a:endParaRPr lang="en-US" sz="1600" dirty="0"/>
          </a:p>
        </p:txBody>
      </p:sp>
      <p:sp>
        <p:nvSpPr>
          <p:cNvPr id="18" name="Put in order puzzle screenshot shadow"/>
          <p:cNvSpPr/>
          <p:nvPr/>
        </p:nvSpPr>
        <p:spPr>
          <a:xfrm>
            <a:off x="7391095" y="1435608"/>
            <a:ext cx="4251960" cy="2988025"/>
          </a:xfrm>
          <a:prstGeom prst="rect">
            <a:avLst/>
          </a:prstGeom>
          <a:solidFill>
            <a:schemeClr val="tx1"/>
          </a:solidFill>
          <a:ln/>
        </p:spPr>
      </p:sp>
      <p:pic>
        <p:nvPicPr>
          <p:cNvPr id="19" name="Put in order puzzle screenshot" descr="A 5th grade put-in-order puzzle on energy and matter in ecosystems: put the steps that create a Chesapeake Bay dead zone in order, from the first cause to the last effect.">    </p:cNvPr>
          <p:cNvPicPr>
            <a:picLocks noChangeAspect="1"/>
          </p:cNvPicPr>
          <p:nvPr/>
        </p:nvPicPr>
        <p:blipFill>
          <a:blip r:embed="rId6"/>
          <a:stretch>
            <a:fillRect/>
          </a:stretch>
        </p:blipFill>
        <p:spPr>
          <a:xfrm>
            <a:off x="7327087" y="1371600"/>
            <a:ext cx="4251960" cy="2988025"/>
          </a:xfrm>
          <a:prstGeom prst="rect">
            <a:avLst/>
          </a:prstGeom>
        </p:spPr>
      </p:pic>
      <p:sp>
        <p:nvSpPr>
          <p:cNvPr id="20" name="Put in order puzzle screenshot frame"/>
          <p:cNvSpPr/>
          <p:nvPr/>
        </p:nvSpPr>
        <p:spPr>
          <a:xfrm>
            <a:off x="7327087" y="1371600"/>
            <a:ext cx="4251960" cy="2988025"/>
          </a:xfrm>
          <a:prstGeom prst="rect">
            <a:avLst/>
          </a:prstGeom>
          <a:ln w="15875">
            <a:solidFill>
              <a:schemeClr val="tx1"/>
            </a:solidFill>
            <a:prstDash val="solid"/>
          </a:ln>
        </p:spPr>
      </p:sp>
      <p:sp>
        <p:nvSpPr>
          <p:cNvPr id="21" name="Puzzle caption"/>
          <p:cNvSpPr txBox="1"/>
          <p:nvPr/>
        </p:nvSpPr>
        <p:spPr>
          <a:xfrm>
            <a:off x="7327087" y="4542505"/>
            <a:ext cx="4315968" cy="777240"/>
          </a:xfrm>
          <a:prstGeom prst="rect">
            <a:avLst/>
          </a:prstGeom>
          <a:noFill/>
          <a:ln/>
        </p:spPr>
        <p:txBody>
          <a:bodyPr wrap="square" lIns="0" tIns="0" rIns="0" bIns="0" rtlCol="0" anchor="t"/>
          <a:lstStyle/>
          <a:p>
            <a:pPr indent="0" marL="0">
              <a:buNone/>
            </a:pPr>
            <a:r>
              <a:rPr lang="en-US" sz="1200" i="1" dirty="0">
                <a:solidFill>
                  <a:schemeClr val="tx2"/>
                </a:solidFill>
              </a:rPr>
              <a:t>A 5th grade “put in order” puzzle: the steps that create a Chesapeake Bay dead zone. Ordering, pick-all, sorting and answer-then-prove items practice MSTAR-style formats.</a:t>
            </a:r>
            <a:endParaRPr lang="en-US" sz="1200" dirty="0"/>
          </a:p>
        </p:txBody>
      </p:sp>
      <p:sp>
        <p:nvSpPr>
          <p:cNvPr id="22" name="Standard code note"/>
          <p:cNvSpPr txBox="1"/>
          <p:nvPr/>
        </p:nvSpPr>
        <p:spPr>
          <a:xfrm>
            <a:off x="7327087" y="5349240"/>
            <a:ext cx="4315968" cy="548640"/>
          </a:xfrm>
          <a:prstGeom prst="rect">
            <a:avLst/>
          </a:prstGeom>
          <a:noFill/>
          <a:ln/>
        </p:spPr>
        <p:txBody>
          <a:bodyPr wrap="square" lIns="0" tIns="0" rIns="0" bIns="0" rtlCol="0" anchor="t"/>
          <a:lstStyle/>
          <a:p>
            <a:pPr indent="0" marL="0">
              <a:buNone/>
            </a:pPr>
            <a:r>
              <a:rPr lang="en-US" sz="1400" b="1" dirty="0">
                <a:solidFill>
                  <a:schemeClr val="accent1"/>
                </a:solidFill>
              </a:rPr>
              <a:t>Questions are written to these topics; they are not tagged with standard codes.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rPr>
              <a:t>How it was made, and its limits</a:t>
            </a:r>
            <a:endParaRPr lang="en-US" sz="3600" dirty="0"/>
          </a:p>
        </p:txBody>
      </p:sp>
      <p:sp>
        <p:nvSpPr>
          <p:cNvPr id="3" name="How it was made card"/>
          <p:cNvSpPr/>
          <p:nvPr/>
        </p:nvSpPr>
        <p:spPr>
          <a:xfrm>
            <a:off x="548640" y="1325880"/>
            <a:ext cx="5410048" cy="4983480"/>
          </a:xfrm>
          <a:prstGeom prst="roundRect">
            <a:avLst>
              <a:gd name="adj" fmla="val 1468"/>
            </a:avLst>
          </a:prstGeom>
          <a:solidFill>
            <a:schemeClr val="bg1"/>
          </a:solidFill>
          <a:ln/>
          <a:effectLst>
            <a:outerShdw sx="100000" sy="100000" kx="0" ky="0" algn="bl" rotWithShape="0" blurRad="101600" dist="25400" dir="5400000">
              <a:srgbClr val="6E6350">
                <a:alpha val="22000"/>
              </a:srgbClr>
            </a:outerShdw>
          </a:effectLst>
        </p:spPr>
      </p:sp>
      <p:sp>
        <p:nvSpPr>
          <p:cNvPr id="4" name="How it was made circle"/>
          <p:cNvSpPr/>
          <p:nvPr/>
        </p:nvSpPr>
        <p:spPr>
          <a:xfrm>
            <a:off x="822960" y="1600200"/>
            <a:ext cx="502920" cy="502920"/>
          </a:xfrm>
          <a:prstGeom prst="ellipse">
            <a:avLst/>
          </a:prstGeom>
          <a:solidFill>
            <a:schemeClr val="accent1"/>
          </a:solidFill>
          <a:ln/>
        </p:spPr>
      </p:sp>
      <p:pic>
        <p:nvPicPr>
          <p:cNvPr id="5" name="How it was made icon" descr="pencil icon">    </p:cNvPr>
          <p:cNvPicPr>
            <a:picLocks noChangeAspect="1"/>
          </p:cNvPicPr>
          <p:nvPr/>
        </p:nvPicPr>
        <p:blipFill>
          <a:blip r:embed="rId1"/>
          <a:stretch>
            <a:fillRect/>
          </a:stretch>
        </p:blipFill>
        <p:spPr>
          <a:xfrm>
            <a:off x="943661" y="1720901"/>
            <a:ext cx="261518" cy="261518"/>
          </a:xfrm>
          <a:prstGeom prst="rect">
            <a:avLst/>
          </a:prstGeom>
        </p:spPr>
      </p:pic>
      <p:sp>
        <p:nvSpPr>
          <p:cNvPr id="6" name="How it was made heading"/>
          <p:cNvSpPr txBox="1"/>
          <p:nvPr/>
        </p:nvSpPr>
        <p:spPr>
          <a:xfrm>
            <a:off x="1463040" y="1600200"/>
            <a:ext cx="4221328" cy="502920"/>
          </a:xfrm>
          <a:prstGeom prst="rect">
            <a:avLst/>
          </a:prstGeom>
          <a:noFill/>
          <a:ln/>
        </p:spPr>
        <p:txBody>
          <a:bodyPr wrap="square" lIns="0" tIns="0" rIns="0" bIns="0" rtlCol="0" anchor="ctr"/>
          <a:lstStyle/>
          <a:p>
            <a:pPr indent="0" marL="0">
              <a:buNone/>
            </a:pPr>
            <a:r>
              <a:rPr lang="en-US" sz="2000" b="1" dirty="0">
                <a:solidFill>
                  <a:schemeClr val="tx1"/>
                </a:solidFill>
              </a:rPr>
              <a:t>How it was made</a:t>
            </a:r>
            <a:endParaRPr lang="en-US" sz="2000" dirty="0"/>
          </a:p>
        </p:txBody>
      </p:sp>
      <p:sp>
        <p:nvSpPr>
          <p:cNvPr id="7" name="How it was made text"/>
          <p:cNvSpPr txBox="1"/>
          <p:nvPr/>
        </p:nvSpPr>
        <p:spPr>
          <a:xfrm>
            <a:off x="822960" y="2286000"/>
            <a:ext cx="4861408" cy="3840480"/>
          </a:xfrm>
          <a:prstGeom prst="rect">
            <a:avLst/>
          </a:prstGeom>
          <a:noFill/>
          <a:ln/>
        </p:spPr>
        <p:txBody>
          <a:bodyPr wrap="square" lIns="0" tIns="0" rIns="0" bIns="0" rtlCol="0" anchor="t"/>
          <a:lstStyle/>
          <a:p>
            <a:pPr indent="0" marL="0">
              <a:spcAft>
                <a:spcPts val="1000"/>
              </a:spcAft>
              <a:buNone/>
            </a:pPr>
            <a:r>
              <a:rPr lang="en-US" sz="1400" dirty="0">
                <a:solidFill>
                  <a:schemeClr val="tx1"/>
                </a:solidFill>
              </a:rPr>
              <a:t>The questions, explanations, coaching steps and stories were written by an AI assistant at my direction, working from the official curriculum information that is publicly available. They were then checked by automated tests and by further AI review passes that re-solved every question.</a:t>
            </a:r>
            <a:endParaRPr lang="en-US" sz="1400" dirty="0"/>
          </a:p>
          <a:p>
            <a:pPr indent="0" marL="0">
              <a:spcAft>
                <a:spcPts val="400"/>
              </a:spcAft>
              <a:buNone/>
            </a:pPr>
            <a:r>
              <a:rPr lang="en-US" sz="1400" b="1" dirty="0">
                <a:solidFill>
                  <a:schemeClr val="tx1"/>
                </a:solidFill>
              </a:rPr>
              <a:t>Documents the AI assistant read in full:</a:t>
            </a:r>
            <a:endParaRPr lang="en-US" sz="1400" dirty="0"/>
          </a:p>
          <a:p>
            <a:pPr marL="203200" indent="-203200">
              <a:spcAft>
                <a:spcPts val="400"/>
              </a:spcAft>
              <a:buSzPct val="100000"/>
              <a:buChar char="•"/>
            </a:pPr>
            <a:r>
              <a:rPr lang="en-US" sz="1400" dirty="0">
                <a:solidFill>
                  <a:schemeClr val="tx1"/>
                </a:solidFill>
              </a:rPr>
              <a:t>Amplify’s published CKLA curriculum maps and K-5 program guide</a:t>
            </a:r>
            <a:endParaRPr lang="en-US" sz="1400" dirty="0"/>
          </a:p>
          <a:p>
            <a:pPr marL="203200" indent="-203200">
              <a:spcAft>
                <a:spcPts val="400"/>
              </a:spcAft>
              <a:buSzPct val="100000"/>
              <a:buChar char="•"/>
            </a:pPr>
            <a:r>
              <a:rPr lang="en-US" sz="1400" dirty="0">
                <a:solidFill>
                  <a:schemeClr val="tx1"/>
                </a:solidFill>
              </a:rPr>
              <a:t>The openly licensed Core Knowledge teacher guides CKLA is built on</a:t>
            </a:r>
            <a:endParaRPr lang="en-US" sz="1400" dirty="0"/>
          </a:p>
          <a:p>
            <a:pPr marL="203200" indent="-203200">
              <a:spcAft>
                <a:spcPts val="400"/>
              </a:spcAft>
              <a:buSzPct val="100000"/>
              <a:buChar char="•"/>
            </a:pPr>
            <a:r>
              <a:rPr lang="en-US" sz="1400" dirty="0">
                <a:solidFill>
                  <a:schemeClr val="tx1"/>
                </a:solidFill>
              </a:rPr>
              <a:t>McGraw Hill’s published Reveal Math alignment documents for grades 3-5</a:t>
            </a:r>
            <a:endParaRPr lang="en-US" sz="1400" dirty="0"/>
          </a:p>
          <a:p>
            <a:pPr marL="203200" indent="-203200">
              <a:spcAft>
                <a:spcPts val="400"/>
              </a:spcAft>
              <a:buSzPct val="100000"/>
              <a:buChar char="•"/>
            </a:pPr>
            <a:r>
              <a:rPr lang="en-US" sz="1400" dirty="0">
                <a:solidFill>
                  <a:schemeClr val="tx1"/>
                </a:solidFill>
              </a:rPr>
              <a:t>A Reveal Math pacing guide from a district in another state</a:t>
            </a:r>
            <a:endParaRPr lang="en-US" sz="1400" dirty="0"/>
          </a:p>
          <a:p>
            <a:pPr marL="203200" indent="-203200">
              <a:spcAft>
                <a:spcPts val="400"/>
              </a:spcAft>
              <a:buSzPct val="100000"/>
              <a:buChar char="•"/>
            </a:pPr>
            <a:r>
              <a:rPr lang="en-US" sz="1400" dirty="0">
                <a:solidFill>
                  <a:schemeClr val="tx1"/>
                </a:solidFill>
              </a:rPr>
              <a:t>An AACPS family handout on math strategies</a:t>
            </a:r>
            <a:endParaRPr lang="en-US" sz="1400" dirty="0"/>
          </a:p>
          <a:p>
            <a:pPr indent="0" marL="0">
              <a:spcBef>
                <a:spcPts val="600"/>
              </a:spcBef>
              <a:buNone/>
            </a:pPr>
            <a:r>
              <a:rPr lang="en-US" sz="1400" dirty="0">
                <a:solidFill>
                  <a:schemeClr val="tx1"/>
                </a:solidFill>
              </a:rPr>
              <a:t>These were public PDF copies of the documents.</a:t>
            </a:r>
            <a:endParaRPr lang="en-US" sz="1400" dirty="0"/>
          </a:p>
        </p:txBody>
      </p:sp>
      <p:sp>
        <p:nvSpPr>
          <p:cNvPr id="8" name="Limits card"/>
          <p:cNvSpPr/>
          <p:nvPr/>
        </p:nvSpPr>
        <p:spPr>
          <a:xfrm>
            <a:off x="6233008" y="1325880"/>
            <a:ext cx="5410048" cy="4983480"/>
          </a:xfrm>
          <a:prstGeom prst="roundRect">
            <a:avLst>
              <a:gd name="adj" fmla="val 1468"/>
            </a:avLst>
          </a:prstGeom>
          <a:solidFill>
            <a:schemeClr val="bg1"/>
          </a:solidFill>
          <a:ln/>
          <a:effectLst>
            <a:outerShdw sx="100000" sy="100000" kx="0" ky="0" algn="bl" rotWithShape="0" blurRad="101600" dist="25400" dir="5400000">
              <a:srgbClr val="6E6350">
                <a:alpha val="22000"/>
              </a:srgbClr>
            </a:outerShdw>
          </a:effectLst>
        </p:spPr>
      </p:sp>
      <p:sp>
        <p:nvSpPr>
          <p:cNvPr id="9" name="Limits circle"/>
          <p:cNvSpPr/>
          <p:nvPr/>
        </p:nvSpPr>
        <p:spPr>
          <a:xfrm>
            <a:off x="6507328" y="1600200"/>
            <a:ext cx="502920" cy="502920"/>
          </a:xfrm>
          <a:prstGeom prst="ellipse">
            <a:avLst/>
          </a:prstGeom>
          <a:solidFill>
            <a:schemeClr val="accent2"/>
          </a:solidFill>
          <a:ln/>
        </p:spPr>
      </p:sp>
      <p:pic>
        <p:nvPicPr>
          <p:cNvPr id="10" name="Limits icon" descr="exclamation circle icon">    </p:cNvPr>
          <p:cNvPicPr>
            <a:picLocks noChangeAspect="1"/>
          </p:cNvPicPr>
          <p:nvPr/>
        </p:nvPicPr>
        <p:blipFill>
          <a:blip r:embed="rId2"/>
          <a:stretch>
            <a:fillRect/>
          </a:stretch>
        </p:blipFill>
        <p:spPr>
          <a:xfrm>
            <a:off x="6628028" y="1720901"/>
            <a:ext cx="261518" cy="261518"/>
          </a:xfrm>
          <a:prstGeom prst="rect">
            <a:avLst/>
          </a:prstGeom>
        </p:spPr>
      </p:pic>
      <p:sp>
        <p:nvSpPr>
          <p:cNvPr id="11" name="Limits heading"/>
          <p:cNvSpPr txBox="1"/>
          <p:nvPr/>
        </p:nvSpPr>
        <p:spPr>
          <a:xfrm>
            <a:off x="7147408" y="1600200"/>
            <a:ext cx="4221328" cy="502920"/>
          </a:xfrm>
          <a:prstGeom prst="rect">
            <a:avLst/>
          </a:prstGeom>
          <a:noFill/>
          <a:ln/>
        </p:spPr>
        <p:txBody>
          <a:bodyPr wrap="square" lIns="0" tIns="0" rIns="0" bIns="0" rtlCol="0" anchor="ctr"/>
          <a:lstStyle/>
          <a:p>
            <a:pPr indent="0" marL="0">
              <a:buNone/>
            </a:pPr>
            <a:r>
              <a:rPr lang="en-US" sz="2000" b="1" dirty="0">
                <a:solidFill>
                  <a:schemeClr val="tx1"/>
                </a:solidFill>
              </a:rPr>
              <a:t>Its limits</a:t>
            </a:r>
            <a:endParaRPr lang="en-US" sz="2000" dirty="0"/>
          </a:p>
        </p:txBody>
      </p:sp>
      <p:sp>
        <p:nvSpPr>
          <p:cNvPr id="12" name="Limits text"/>
          <p:cNvSpPr txBox="1"/>
          <p:nvPr/>
        </p:nvSpPr>
        <p:spPr>
          <a:xfrm>
            <a:off x="6507328" y="2286000"/>
            <a:ext cx="4861408" cy="3840480"/>
          </a:xfrm>
          <a:prstGeom prst="rect">
            <a:avLst/>
          </a:prstGeom>
          <a:noFill/>
          <a:ln/>
        </p:spPr>
        <p:txBody>
          <a:bodyPr wrap="square" lIns="0" tIns="0" rIns="0" bIns="0" rtlCol="0" anchor="t"/>
          <a:lstStyle/>
          <a:p>
            <a:pPr marL="203200" indent="-203200">
              <a:spcAft>
                <a:spcPts val="500"/>
              </a:spcAft>
              <a:buSzPct val="100000"/>
              <a:buChar char="•"/>
            </a:pPr>
            <a:r>
              <a:rPr lang="en-US" sz="1400" b="1" dirty="0">
                <a:solidFill>
                  <a:schemeClr val="tx1"/>
                </a:solidFill>
              </a:rPr>
              <a:t>It is not an AACPS product, and has not been reviewed or endorsed by AACPS or its teachers.</a:t>
            </a:r>
            <a:endParaRPr lang="en-US" sz="1400" dirty="0"/>
          </a:p>
          <a:p>
            <a:pPr marL="203200" indent="-203200">
              <a:spcAft>
                <a:spcPts val="500"/>
              </a:spcAft>
              <a:buSzPct val="100000"/>
              <a:buChar char="•"/>
            </a:pPr>
            <a:r>
              <a:rPr lang="en-US" sz="1400" dirty="0">
                <a:solidFill>
                  <a:schemeClr val="tx1"/>
                </a:solidFill>
              </a:rPr>
              <a:t>It is not a product of Amplify or McGraw Hill, and neither has reviewed or endorsed it.</a:t>
            </a:r>
            <a:endParaRPr lang="en-US" sz="1400" dirty="0"/>
          </a:p>
          <a:p>
            <a:pPr marL="203200" indent="-203200">
              <a:spcAft>
                <a:spcPts val="500"/>
              </a:spcAft>
              <a:buSzPct val="100000"/>
              <a:buChar char="•"/>
            </a:pPr>
            <a:r>
              <a:rPr lang="en-US" sz="1400" dirty="0">
                <a:solidFill>
                  <a:schemeClr val="tx1"/>
                </a:solidFill>
              </a:rPr>
              <a:t>The AI assistant could not open several official websites (AACPS, MSDE, McGraw Hill, Amplify) directly, so some details rest on search results that quote them.</a:t>
            </a:r>
            <a:endParaRPr lang="en-US" sz="1400" dirty="0"/>
          </a:p>
          <a:p>
            <a:pPr marL="203200" indent="-203200">
              <a:spcAft>
                <a:spcPts val="500"/>
              </a:spcAft>
              <a:buSzPct val="100000"/>
              <a:buChar char="•"/>
            </a:pPr>
            <a:r>
              <a:rPr lang="en-US" sz="1400" dirty="0">
                <a:solidFill>
                  <a:schemeClr val="tx1"/>
                </a:solidFill>
              </a:rPr>
              <a:t>It did not use AACPS pacing guides, teacher editions or other licensed classroom materials.</a:t>
            </a:r>
            <a:endParaRPr lang="en-US" sz="1400" dirty="0"/>
          </a:p>
          <a:p>
            <a:pPr marL="203200" indent="-203200">
              <a:spcAft>
                <a:spcPts val="500"/>
              </a:spcAft>
              <a:buSzPct val="100000"/>
              <a:buChar char="•"/>
            </a:pPr>
            <a:r>
              <a:rPr lang="en-US" sz="1400" dirty="0">
                <a:solidFill>
                  <a:schemeClr val="tx1"/>
                </a:solidFill>
              </a:rPr>
              <a:t>Two things could not be confirmed: which edition of Amplify CKLA (2nd or new 3rd) AACPS classrooms use this year (the reading packs follow the 2nd edition’s units), and how AACPS maps Reveal Math onto Maryland’s revised standards.</a:t>
            </a:r>
            <a:endParaRPr lang="en-US" sz="1400" dirty="0"/>
          </a:p>
          <a:p>
            <a:pPr marL="203200" indent="-203200">
              <a:spcAft>
                <a:spcPts val="500"/>
              </a:spcAft>
              <a:buSzPct val="100000"/>
              <a:buChar char="•"/>
            </a:pPr>
            <a:r>
              <a:rPr lang="en-US" sz="1400" dirty="0">
                <a:solidFill>
                  <a:schemeClr val="tx1"/>
                </a:solidFill>
              </a:rPr>
              <a:t>AACPS’s health scope and sequence was not found; health packs use general content and leave out family-life topics.</a:t>
            </a:r>
            <a:endParaRPr lang="en-US" sz="1400" dirty="0"/>
          </a:p>
          <a:p>
            <a:pPr marL="203200" indent="-203200">
              <a:spcAft>
                <a:spcPts val="500"/>
              </a:spcAft>
              <a:buSzPct val="100000"/>
              <a:buChar char="•"/>
            </a:pPr>
            <a:r>
              <a:rPr lang="en-US" sz="1400" dirty="0">
                <a:solidFill>
                  <a:schemeClr val="tx1"/>
                </a:solidFill>
              </a:rPr>
              <a:t>A question can still be wrong. Corrections are welcome.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rPr>
              <a:t>Privacy, and how to try it</a:t>
            </a:r>
            <a:endParaRPr lang="en-US" sz="3600" dirty="0"/>
          </a:p>
        </p:txBody>
      </p:sp>
      <p:sp>
        <p:nvSpPr>
          <p:cNvPr id="3" name="Privacy card"/>
          <p:cNvSpPr/>
          <p:nvPr/>
        </p:nvSpPr>
        <p:spPr>
          <a:xfrm>
            <a:off x="548640" y="1325880"/>
            <a:ext cx="4343400" cy="4983480"/>
          </a:xfrm>
          <a:prstGeom prst="roundRect">
            <a:avLst>
              <a:gd name="adj" fmla="val 1684"/>
            </a:avLst>
          </a:prstGeom>
          <a:solidFill>
            <a:schemeClr val="bg1"/>
          </a:solidFill>
          <a:ln/>
          <a:effectLst>
            <a:outerShdw sx="100000" sy="100000" kx="0" ky="0" algn="bl" rotWithShape="0" blurRad="101600" dist="25400" dir="5400000">
              <a:srgbClr val="6E6350">
                <a:alpha val="22000"/>
              </a:srgbClr>
            </a:outerShdw>
          </a:effectLst>
        </p:spPr>
      </p:sp>
      <p:sp>
        <p:nvSpPr>
          <p:cNvPr id="4" name="Privacy circle"/>
          <p:cNvSpPr/>
          <p:nvPr/>
        </p:nvSpPr>
        <p:spPr>
          <a:xfrm>
            <a:off x="822960" y="1600200"/>
            <a:ext cx="502920" cy="502920"/>
          </a:xfrm>
          <a:prstGeom prst="ellipse">
            <a:avLst/>
          </a:prstGeom>
          <a:solidFill>
            <a:schemeClr val="accent1"/>
          </a:solidFill>
          <a:ln/>
        </p:spPr>
      </p:sp>
      <p:pic>
        <p:nvPicPr>
          <p:cNvPr id="5" name="Privacy icon" descr="lock icon">    </p:cNvPr>
          <p:cNvPicPr>
            <a:picLocks noChangeAspect="1"/>
          </p:cNvPicPr>
          <p:nvPr/>
        </p:nvPicPr>
        <p:blipFill>
          <a:blip r:embed="rId1"/>
          <a:stretch>
            <a:fillRect/>
          </a:stretch>
        </p:blipFill>
        <p:spPr>
          <a:xfrm>
            <a:off x="943661" y="1720901"/>
            <a:ext cx="261518" cy="261518"/>
          </a:xfrm>
          <a:prstGeom prst="rect">
            <a:avLst/>
          </a:prstGeom>
        </p:spPr>
      </p:pic>
      <p:sp>
        <p:nvSpPr>
          <p:cNvPr id="6" name="Privacy heading"/>
          <p:cNvSpPr txBox="1"/>
          <p:nvPr/>
        </p:nvSpPr>
        <p:spPr>
          <a:xfrm>
            <a:off x="1463040" y="1600200"/>
            <a:ext cx="3154680" cy="502920"/>
          </a:xfrm>
          <a:prstGeom prst="rect">
            <a:avLst/>
          </a:prstGeom>
          <a:noFill/>
          <a:ln/>
        </p:spPr>
        <p:txBody>
          <a:bodyPr wrap="square" lIns="0" tIns="0" rIns="0" bIns="0" rtlCol="0" anchor="ctr"/>
          <a:lstStyle/>
          <a:p>
            <a:pPr indent="0" marL="0">
              <a:buNone/>
            </a:pPr>
            <a:r>
              <a:rPr lang="en-US" sz="2000" b="1" dirty="0">
                <a:solidFill>
                  <a:schemeClr val="tx1"/>
                </a:solidFill>
              </a:rPr>
              <a:t>Privacy</a:t>
            </a:r>
            <a:endParaRPr lang="en-US" sz="2000" dirty="0"/>
          </a:p>
        </p:txBody>
      </p:sp>
      <p:sp>
        <p:nvSpPr>
          <p:cNvPr id="7" name="Privacy text"/>
          <p:cNvSpPr txBox="1"/>
          <p:nvPr/>
        </p:nvSpPr>
        <p:spPr>
          <a:xfrm>
            <a:off x="822960" y="2286000"/>
            <a:ext cx="3794760" cy="384048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No accounts or sign-in. The only names are the profile labels Kindergarten, 3rd Grade and 5th Grade.</a:t>
            </a:r>
            <a:endParaRPr lang="en-US" sz="1500" dirty="0"/>
          </a:p>
          <a:p>
            <a:pPr marL="203200" indent="-203200">
              <a:spcAft>
                <a:spcPts val="900"/>
              </a:spcAft>
              <a:buSzPct val="100000"/>
              <a:buChar char="•"/>
            </a:pPr>
            <a:r>
              <a:rPr lang="en-US" sz="1500" dirty="0">
                <a:solidFill>
                  <a:schemeClr val="tx1"/>
                </a:solidFill>
              </a:rPr>
              <a:t>Progress is saved only in the browser on the device it is played on. A child’s answers are never sent anywhere.</a:t>
            </a:r>
            <a:endParaRPr lang="en-US" sz="1500" dirty="0"/>
          </a:p>
          <a:p>
            <a:pPr marL="203200" indent="-203200">
              <a:spcAft>
                <a:spcPts val="900"/>
              </a:spcAft>
              <a:buSzPct val="100000"/>
              <a:buChar char="•"/>
            </a:pPr>
            <a:r>
              <a:rPr lang="en-US" sz="1500" dirty="0">
                <a:solidFill>
                  <a:schemeClr val="tx1"/>
                </a:solidFill>
              </a:rPr>
              <a:t>No ads, tracking or purchases.</a:t>
            </a:r>
            <a:endParaRPr lang="en-US" sz="1500" dirty="0"/>
          </a:p>
          <a:p>
            <a:pPr marL="203200" indent="-203200">
              <a:spcAft>
                <a:spcPts val="900"/>
              </a:spcAft>
              <a:buSzPct val="100000"/>
              <a:buChar char="•"/>
            </a:pPr>
            <a:r>
              <a:rPr lang="en-US" sz="1500" dirty="0">
                <a:solidFill>
                  <a:schemeClr val="tx1"/>
                </a:solidFill>
              </a:rPr>
              <a:t>When online, the page loads its typefaces from Google Fonts. Some browsers’ most natural read-aloud voices are online and receive the words read aloud: the game’s own, plus any buddy name a 3rd or 5th grader types. A parent can choose a voice built into the device instead.</a:t>
            </a:r>
            <a:endParaRPr lang="en-US" sz="1500" dirty="0"/>
          </a:p>
        </p:txBody>
      </p:sp>
      <p:sp>
        <p:nvSpPr>
          <p:cNvPr id="8" name="Try 1 circle"/>
          <p:cNvSpPr/>
          <p:nvPr/>
        </p:nvSpPr>
        <p:spPr>
          <a:xfrm>
            <a:off x="5303520" y="1344168"/>
            <a:ext cx="502920" cy="502920"/>
          </a:xfrm>
          <a:prstGeom prst="ellipse">
            <a:avLst/>
          </a:prstGeom>
          <a:solidFill>
            <a:schemeClr val="accent1"/>
          </a:solidFill>
          <a:ln/>
        </p:spPr>
      </p:sp>
      <p:pic>
        <p:nvPicPr>
          <p:cNvPr id="9" name="Try 1 icon" descr="laptop icon">    </p:cNvPr>
          <p:cNvPicPr>
            <a:picLocks noChangeAspect="1"/>
          </p:cNvPicPr>
          <p:nvPr/>
        </p:nvPicPr>
        <p:blipFill>
          <a:blip r:embed="rId2"/>
          <a:stretch>
            <a:fillRect/>
          </a:stretch>
        </p:blipFill>
        <p:spPr>
          <a:xfrm>
            <a:off x="5424221" y="1464869"/>
            <a:ext cx="261518" cy="261518"/>
          </a:xfrm>
          <a:prstGeom prst="rect">
            <a:avLst/>
          </a:prstGeom>
        </p:spPr>
      </p:pic>
      <p:sp>
        <p:nvSpPr>
          <p:cNvPr id="10" name="Try 1 text"/>
          <p:cNvSpPr txBox="1"/>
          <p:nvPr/>
        </p:nvSpPr>
        <p:spPr>
          <a:xfrm>
            <a:off x="5989320" y="1325880"/>
            <a:ext cx="5653735" cy="978408"/>
          </a:xfrm>
          <a:prstGeom prst="rect">
            <a:avLst/>
          </a:prstGeom>
          <a:noFill/>
          <a:ln/>
        </p:spPr>
        <p:txBody>
          <a:bodyPr wrap="square" lIns="0" tIns="0" rIns="0" bIns="0" rtlCol="0" anchor="t"/>
          <a:lstStyle/>
          <a:p>
            <a:pPr indent="0" marL="0">
              <a:buNone/>
            </a:pPr>
            <a:r>
              <a:rPr lang="en-US" sz="1400" b="1" dirty="0">
                <a:solidFill>
                  <a:schemeClr val="tx1"/>
                </a:solidFill>
              </a:rPr>
              <a:t>Laptop or desktop (Windows, Mac or Chromebook)</a:t>
            </a:r>
            <a:endParaRPr lang="en-US" sz="1400" dirty="0"/>
          </a:p>
          <a:p>
            <a:pPr indent="0" marL="0">
              <a:buNone/>
            </a:pPr>
            <a:r>
              <a:rPr lang="en-US" sz="1400" dirty="0">
                <a:solidFill>
                  <a:schemeClr val="tx1"/>
                </a:solidFill>
              </a:rPr>
              <a:t>Save the attached file Ticali_Trio_Family_Edition.html, then double-click it. It opens in the web browser. If your email system held the file back, please let me know.</a:t>
            </a:r>
            <a:endParaRPr lang="en-US" sz="1400" dirty="0"/>
          </a:p>
        </p:txBody>
      </p:sp>
      <p:sp>
        <p:nvSpPr>
          <p:cNvPr id="11" name="Try 2 circle"/>
          <p:cNvSpPr/>
          <p:nvPr/>
        </p:nvSpPr>
        <p:spPr>
          <a:xfrm>
            <a:off x="5303520" y="2395728"/>
            <a:ext cx="502920" cy="502920"/>
          </a:xfrm>
          <a:prstGeom prst="ellipse">
            <a:avLst/>
          </a:prstGeom>
          <a:solidFill>
            <a:schemeClr val="accent1"/>
          </a:solidFill>
          <a:ln/>
        </p:spPr>
      </p:sp>
      <p:pic>
        <p:nvPicPr>
          <p:cNvPr id="12" name="Try 2 icon" descr="tablet icon">    </p:cNvPr>
          <p:cNvPicPr>
            <a:picLocks noChangeAspect="1"/>
          </p:cNvPicPr>
          <p:nvPr/>
        </p:nvPicPr>
        <p:blipFill>
          <a:blip r:embed="rId3"/>
          <a:stretch>
            <a:fillRect/>
          </a:stretch>
        </p:blipFill>
        <p:spPr>
          <a:xfrm>
            <a:off x="5424221" y="2516429"/>
            <a:ext cx="261518" cy="261518"/>
          </a:xfrm>
          <a:prstGeom prst="rect">
            <a:avLst/>
          </a:prstGeom>
        </p:spPr>
      </p:pic>
      <p:sp>
        <p:nvSpPr>
          <p:cNvPr id="13" name="Try 2 text"/>
          <p:cNvSpPr txBox="1"/>
          <p:nvPr/>
        </p:nvSpPr>
        <p:spPr>
          <a:xfrm>
            <a:off x="5989320" y="2377440"/>
            <a:ext cx="5653735" cy="768096"/>
          </a:xfrm>
          <a:prstGeom prst="rect">
            <a:avLst/>
          </a:prstGeom>
          <a:noFill/>
          <a:ln/>
        </p:spPr>
        <p:txBody>
          <a:bodyPr wrap="square" lIns="0" tIns="0" rIns="0" bIns="0" rtlCol="0" anchor="t"/>
          <a:lstStyle/>
          <a:p>
            <a:pPr indent="0" marL="0">
              <a:buNone/>
            </a:pPr>
            <a:r>
              <a:rPr lang="en-US" sz="1400" b="1" dirty="0">
                <a:solidFill>
                  <a:schemeClr val="tx1"/>
                </a:solidFill>
              </a:rPr>
              <a:t>iPad</a:t>
            </a:r>
            <a:endParaRPr lang="en-US" sz="1400" dirty="0"/>
          </a:p>
          <a:p>
            <a:pPr indent="0" marL="0">
              <a:buNone/>
            </a:pPr>
            <a:r>
              <a:rPr lang="en-US" sz="1400" dirty="0">
                <a:solidFill>
                  <a:schemeClr val="tx1"/>
                </a:solidFill>
              </a:rPr>
              <a:t>An emailed or downloaded copy opens in a preview that does not run the game (an iPad runs it only from a web address).</a:t>
            </a:r>
            <a:endParaRPr lang="en-US" sz="1400" dirty="0"/>
          </a:p>
        </p:txBody>
      </p:sp>
      <p:sp>
        <p:nvSpPr>
          <p:cNvPr id="14" name="Try 3 circle"/>
          <p:cNvSpPr/>
          <p:nvPr/>
        </p:nvSpPr>
        <p:spPr>
          <a:xfrm>
            <a:off x="5303520" y="3236976"/>
            <a:ext cx="502920" cy="502920"/>
          </a:xfrm>
          <a:prstGeom prst="ellipse">
            <a:avLst/>
          </a:prstGeom>
          <a:solidFill>
            <a:schemeClr val="accent1"/>
          </a:solidFill>
          <a:ln/>
        </p:spPr>
      </p:sp>
      <p:pic>
        <p:nvPicPr>
          <p:cNvPr id="15" name="Try 3 icon" descr="info circle icon">    </p:cNvPr>
          <p:cNvPicPr>
            <a:picLocks noChangeAspect="1"/>
          </p:cNvPicPr>
          <p:nvPr/>
        </p:nvPicPr>
        <p:blipFill>
          <a:blip r:embed="rId4"/>
          <a:stretch>
            <a:fillRect/>
          </a:stretch>
        </p:blipFill>
        <p:spPr>
          <a:xfrm>
            <a:off x="5424221" y="3357677"/>
            <a:ext cx="261518" cy="261518"/>
          </a:xfrm>
          <a:prstGeom prst="rect">
            <a:avLst/>
          </a:prstGeom>
        </p:spPr>
      </p:pic>
      <p:sp>
        <p:nvSpPr>
          <p:cNvPr id="16" name="Try 3 text"/>
          <p:cNvSpPr txBox="1"/>
          <p:nvPr/>
        </p:nvSpPr>
        <p:spPr>
          <a:xfrm>
            <a:off x="5989320" y="3218688"/>
            <a:ext cx="5653735" cy="768096"/>
          </a:xfrm>
          <a:prstGeom prst="rect">
            <a:avLst/>
          </a:prstGeom>
          <a:noFill/>
          <a:ln/>
        </p:spPr>
        <p:txBody>
          <a:bodyPr wrap="square" lIns="0" tIns="0" rIns="0" bIns="0" rtlCol="0" anchor="t"/>
          <a:lstStyle/>
          <a:p>
            <a:pPr indent="0" marL="0">
              <a:buNone/>
            </a:pPr>
            <a:r>
              <a:rPr lang="en-US" sz="1400" b="1" dirty="0">
                <a:solidFill>
                  <a:schemeClr val="tx1"/>
                </a:solidFill>
              </a:rPr>
              <a:t>For grown-ups</a:t>
            </a:r>
            <a:endParaRPr lang="en-US" sz="1400" dirty="0"/>
          </a:p>
          <a:p>
            <a:pPr indent="0" marL="0">
              <a:buNone/>
            </a:pPr>
            <a:r>
              <a:rPr lang="en-US" sz="1400" dirty="0">
                <a:solidFill>
                  <a:schemeClr val="tx1"/>
                </a:solidFill>
              </a:rPr>
              <a:t>On the title screen, “For grown-ups: about this game” explains what the game is, how it was made and its limits, and lists every grade’s packs.</a:t>
            </a:r>
            <a:endParaRPr lang="en-US" sz="1400" dirty="0"/>
          </a:p>
        </p:txBody>
      </p:sp>
      <p:sp>
        <p:nvSpPr>
          <p:cNvPr id="17" name="Try 4 circle"/>
          <p:cNvSpPr/>
          <p:nvPr/>
        </p:nvSpPr>
        <p:spPr>
          <a:xfrm>
            <a:off x="5303520" y="4078224"/>
            <a:ext cx="502920" cy="502920"/>
          </a:xfrm>
          <a:prstGeom prst="ellipse">
            <a:avLst/>
          </a:prstGeom>
          <a:solidFill>
            <a:schemeClr val="accent1"/>
          </a:solidFill>
          <a:ln/>
        </p:spPr>
      </p:sp>
      <p:pic>
        <p:nvPicPr>
          <p:cNvPr id="18" name="Try 4 icon" descr="layer group icon">    </p:cNvPr>
          <p:cNvPicPr>
            <a:picLocks noChangeAspect="1"/>
          </p:cNvPicPr>
          <p:nvPr/>
        </p:nvPicPr>
        <p:blipFill>
          <a:blip r:embed="rId5"/>
          <a:stretch>
            <a:fillRect/>
          </a:stretch>
        </p:blipFill>
        <p:spPr>
          <a:xfrm>
            <a:off x="5424221" y="4198925"/>
            <a:ext cx="261518" cy="261518"/>
          </a:xfrm>
          <a:prstGeom prst="rect">
            <a:avLst/>
          </a:prstGeom>
        </p:spPr>
      </p:pic>
      <p:sp>
        <p:nvSpPr>
          <p:cNvPr id="19" name="Try 4 text"/>
          <p:cNvSpPr txBox="1"/>
          <p:nvPr/>
        </p:nvSpPr>
        <p:spPr>
          <a:xfrm>
            <a:off x="5989320" y="4059936"/>
            <a:ext cx="5653735" cy="768096"/>
          </a:xfrm>
          <a:prstGeom prst="rect">
            <a:avLst/>
          </a:prstGeom>
          <a:noFill/>
          <a:ln/>
        </p:spPr>
        <p:txBody>
          <a:bodyPr wrap="square" lIns="0" tIns="0" rIns="0" bIns="0" rtlCol="0" anchor="t"/>
          <a:lstStyle/>
          <a:p>
            <a:pPr indent="0" marL="0">
              <a:buNone/>
            </a:pPr>
            <a:r>
              <a:rPr lang="en-US" sz="1400" b="1" dirty="0">
                <a:solidFill>
                  <a:schemeClr val="tx1"/>
                </a:solidFill>
              </a:rPr>
              <a:t>Play</a:t>
            </a:r>
            <a:endParaRPr lang="en-US" sz="1400" dirty="0"/>
          </a:p>
          <a:p>
            <a:pPr indent="0" marL="0">
              <a:buNone/>
            </a:pPr>
            <a:r>
              <a:rPr lang="en-US" sz="1400" dirty="0">
                <a:solidFill>
                  <a:schemeClr val="tx1"/>
                </a:solidFill>
              </a:rPr>
              <a:t>Click a grade’s card to open that child’s hub, then a pack to play a round. Explore Any Grade, near the bottom of every hub, opens all of K-5.</a:t>
            </a:r>
            <a:endParaRPr lang="en-US" sz="1400" dirty="0"/>
          </a:p>
        </p:txBody>
      </p:sp>
      <p:sp>
        <p:nvSpPr>
          <p:cNvPr id="20" name="Try 5 circle"/>
          <p:cNvSpPr/>
          <p:nvPr/>
        </p:nvSpPr>
        <p:spPr>
          <a:xfrm>
            <a:off x="5303520" y="4919472"/>
            <a:ext cx="502920" cy="502920"/>
          </a:xfrm>
          <a:prstGeom prst="ellipse">
            <a:avLst/>
          </a:prstGeom>
          <a:solidFill>
            <a:schemeClr val="accent1"/>
          </a:solidFill>
          <a:ln/>
        </p:spPr>
      </p:sp>
      <p:pic>
        <p:nvPicPr>
          <p:cNvPr id="21" name="Try 5 icon" descr="key icon">    </p:cNvPr>
          <p:cNvPicPr>
            <a:picLocks noChangeAspect="1"/>
          </p:cNvPicPr>
          <p:nvPr/>
        </p:nvPicPr>
        <p:blipFill>
          <a:blip r:embed="rId6"/>
          <a:stretch>
            <a:fillRect/>
          </a:stretch>
        </p:blipFill>
        <p:spPr>
          <a:xfrm>
            <a:off x="5424221" y="5040173"/>
            <a:ext cx="261518" cy="261518"/>
          </a:xfrm>
          <a:prstGeom prst="rect">
            <a:avLst/>
          </a:prstGeom>
        </p:spPr>
      </p:pic>
      <p:sp>
        <p:nvSpPr>
          <p:cNvPr id="22" name="Try 5 text"/>
          <p:cNvSpPr txBox="1"/>
          <p:nvPr/>
        </p:nvSpPr>
        <p:spPr>
          <a:xfrm>
            <a:off x="5989320" y="4901184"/>
            <a:ext cx="5653735" cy="768096"/>
          </a:xfrm>
          <a:prstGeom prst="rect">
            <a:avLst/>
          </a:prstGeom>
          <a:noFill/>
          <a:ln/>
        </p:spPr>
        <p:txBody>
          <a:bodyPr wrap="square" lIns="0" tIns="0" rIns="0" bIns="0" rtlCol="0" anchor="t"/>
          <a:lstStyle/>
          <a:p>
            <a:pPr indent="0" marL="0">
              <a:buNone/>
            </a:pPr>
            <a:r>
              <a:rPr lang="en-US" sz="1400" b="1" dirty="0">
                <a:solidFill>
                  <a:schemeClr val="tx1"/>
                </a:solidFill>
              </a:rPr>
              <a:t>Parent dashboard</a:t>
            </a:r>
            <a:endParaRPr lang="en-US" sz="1400" dirty="0"/>
          </a:p>
          <a:p>
            <a:pPr indent="0" marL="0">
              <a:buNone/>
            </a:pPr>
            <a:r>
              <a:rPr lang="en-US" sz="1400" dirty="0">
                <a:solidFill>
                  <a:schemeClr val="tx1"/>
                </a:solidFill>
              </a:rPr>
              <a:t>The small, faint word “parent” at the bottom right of the title screen shows progress and settings. The PIN is 0000.</a:t>
            </a:r>
            <a:endParaRPr lang="en-US" sz="1400" dirty="0"/>
          </a:p>
        </p:txBody>
      </p:sp>
      <p:sp>
        <p:nvSpPr>
          <p:cNvPr id="23" name="Own device note"/>
          <p:cNvSpPr txBox="1"/>
          <p:nvPr/>
        </p:nvSpPr>
        <p:spPr>
          <a:xfrm>
            <a:off x="5303520" y="5760720"/>
            <a:ext cx="6339535" cy="457200"/>
          </a:xfrm>
          <a:prstGeom prst="rect">
            <a:avLst/>
          </a:prstGeom>
          <a:noFill/>
          <a:ln/>
        </p:spPr>
        <p:txBody>
          <a:bodyPr wrap="square" lIns="0" tIns="0" rIns="0" bIns="0" rtlCol="0" anchor="t"/>
          <a:lstStyle/>
          <a:p>
            <a:pPr indent="0" marL="0">
              <a:buNone/>
            </a:pPr>
            <a:r>
              <a:rPr lang="en-US" sz="1400" i="1" dirty="0">
                <a:solidFill>
                  <a:schemeClr val="tx2"/>
                </a:solidFill>
              </a:rPr>
              <a:t>Anything you do in the game stays on your own device. It does not touch the children’s progress at home.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85800" y="1325880"/>
            <a:ext cx="6766560" cy="1188720"/>
          </a:xfrm>
          <a:prstGeom prst="rect">
            <a:avLst/>
          </a:prstGeom>
          <a:noFill/>
          <a:ln/>
        </p:spPr>
        <p:txBody>
          <a:bodyPr wrap="square" lIns="0" tIns="0" rIns="0" bIns="0" rtlCol="0" anchor="b"/>
          <a:lstStyle/>
          <a:p>
            <a:pPr algn="l" indent="0" marL="0">
              <a:buNone/>
            </a:pPr>
            <a:r>
              <a:rPr lang="en-US" sz="4400" b="1" dirty="0">
                <a:solidFill>
                  <a:schemeClr val="bg2"/>
                </a:solidFill>
              </a:rPr>
              <a:t>I would welcome your feedback</a:t>
            </a:r>
            <a:endParaRPr lang="en-US" sz="4400" dirty="0"/>
          </a:p>
        </p:txBody>
      </p:sp>
      <p:sp>
        <p:nvSpPr>
          <p:cNvPr id="3" name="Text 0"/>
          <p:cNvSpPr/>
          <p:nvPr>
            <p:ph idx="101" type="body" hasCustomPrompt="1"/>
          </p:nvPr>
        </p:nvSpPr>
        <p:spPr>
          <a:xfrm>
            <a:off x="685800" y="2743200"/>
            <a:ext cx="6400800" cy="1828800"/>
          </a:xfrm>
          <a:prstGeom prst="rect">
            <a:avLst/>
          </a:prstGeom>
          <a:noFill/>
          <a:ln/>
        </p:spPr>
        <p:txBody>
          <a:bodyPr wrap="square" lIns="0" tIns="0" rIns="0" bIns="0" rtlCol="0" anchor="t"/>
          <a:lstStyle/>
          <a:p>
            <a:pPr algn="l" indent="0" marL="0">
              <a:spcAft>
                <a:spcPts val="1200"/>
              </a:spcAft>
              <a:buNone/>
            </a:pPr>
            <a:r>
              <a:rPr lang="en-US" sz="2000" dirty="0">
                <a:solidFill>
                  <a:schemeClr val="bg2"/>
                </a:solidFill>
              </a:rPr>
              <a:t>I am sharing the game for your information, and would welcome feedback, especially on how well it matches what is taught in my children’s school.</a:t>
            </a:r>
            <a:endParaRPr lang="en-US" sz="2000" dirty="0"/>
          </a:p>
          <a:p>
            <a:pPr algn="l" indent="0" marL="0">
              <a:buNone/>
            </a:pPr>
            <a:r>
              <a:rPr lang="en-US" sz="2000" dirty="0">
                <a:solidFill>
                  <a:schemeClr val="bg2"/>
                </a:solidFill>
              </a:rPr>
              <a:t>If a question looks wrong, it may well be wrong, and corrections are welcome.</a:t>
            </a:r>
            <a:endParaRPr lang="en-US" sz="2000" dirty="0"/>
          </a:p>
        </p:txBody>
      </p:sp>
      <p:sp>
        <p:nvSpPr>
          <p:cNvPr id="4" name="Text 0"/>
          <p:cNvSpPr/>
          <p:nvPr>
            <p:ph idx="102" type="body" hasCustomPrompt="1"/>
          </p:nvPr>
        </p:nvSpPr>
        <p:spPr>
          <a:xfrm>
            <a:off x="685800" y="5029200"/>
            <a:ext cx="6400800" cy="548640"/>
          </a:xfrm>
          <a:prstGeom prst="rect">
            <a:avLst/>
          </a:prstGeom>
          <a:noFill/>
          <a:ln/>
        </p:spPr>
        <p:txBody>
          <a:bodyPr wrap="square" lIns="0" tIns="0" rIns="0" bIns="0" rtlCol="0" anchor="t"/>
          <a:lstStyle/>
          <a:p>
            <a:pPr algn="l" indent="0" marL="0">
              <a:buNone/>
            </a:pPr>
            <a:r>
              <a:rPr lang="en-US" sz="1800" dirty="0">
                <a:solidFill>
                  <a:schemeClr val="accent3"/>
                </a:solidFill>
              </a:rPr>
              <a:t>[Your name], parent</a:t>
            </a:r>
            <a:endParaRPr lang="en-US" sz="1800" dirty="0"/>
          </a:p>
        </p:txBody>
      </p:sp>
      <p:sp>
        <p:nvSpPr>
          <p:cNvPr id="5" name="Closing grade circle K"/>
          <p:cNvSpPr/>
          <p:nvPr/>
        </p:nvSpPr>
        <p:spPr>
          <a:xfrm>
            <a:off x="8001000" y="1417320"/>
            <a:ext cx="1691640" cy="1691640"/>
          </a:xfrm>
          <a:prstGeom prst="ellipse">
            <a:avLst/>
          </a:prstGeom>
          <a:solidFill>
            <a:schemeClr val="accent4"/>
          </a:solidFill>
          <a:ln w="38100">
            <a:solidFill>
              <a:schemeClr val="bg2"/>
            </a:solidFill>
          </a:ln>
        </p:spPr>
        <p:txBody>
          <a:bodyPr wrap="square" lIns="0" tIns="0" rIns="0" bIns="0" rtlCol="0" anchor="ctr"/>
          <a:lstStyle/>
          <a:p>
            <a:pPr algn="ctr" indent="0" marL="0">
              <a:buNone/>
            </a:pPr>
            <a:r>
              <a:rPr lang="en-US" sz="3600" b="1" dirty="0">
                <a:solidFill>
                  <a:schemeClr val="bg1"/>
                </a:solidFill>
                <a:latin typeface="Cambria" pitchFamily="34" charset="0"/>
                <a:ea typeface="Cambria" pitchFamily="34" charset="-122"/>
                <a:cs typeface="Cambria" pitchFamily="34" charset="-120"/>
              </a:rPr>
              <a:t>K</a:t>
            </a:r>
            <a:endParaRPr lang="en-US" sz="3600" dirty="0"/>
          </a:p>
        </p:txBody>
      </p:sp>
      <p:sp>
        <p:nvSpPr>
          <p:cNvPr id="6" name="Closing grade circle 3rd"/>
          <p:cNvSpPr/>
          <p:nvPr/>
        </p:nvSpPr>
        <p:spPr>
          <a:xfrm>
            <a:off x="9921240" y="1417320"/>
            <a:ext cx="1691640" cy="1691640"/>
          </a:xfrm>
          <a:prstGeom prst="ellipse">
            <a:avLst/>
          </a:prstGeom>
          <a:solidFill>
            <a:schemeClr val="accent5"/>
          </a:solidFill>
          <a:ln w="38100">
            <a:solidFill>
              <a:schemeClr val="bg2"/>
            </a:solidFill>
          </a:ln>
        </p:spPr>
        <p:txBody>
          <a:bodyPr wrap="square" lIns="0" tIns="0" rIns="0" bIns="0" rtlCol="0" anchor="ctr"/>
          <a:lstStyle/>
          <a:p>
            <a:pPr algn="ctr" indent="0" marL="0">
              <a:buNone/>
            </a:pPr>
            <a:r>
              <a:rPr lang="en-US" sz="3600" b="1" dirty="0">
                <a:solidFill>
                  <a:schemeClr val="bg1"/>
                </a:solidFill>
                <a:latin typeface="Cambria" pitchFamily="34" charset="0"/>
                <a:ea typeface="Cambria" pitchFamily="34" charset="-122"/>
                <a:cs typeface="Cambria" pitchFamily="34" charset="-120"/>
              </a:rPr>
              <a:t>3rd</a:t>
            </a:r>
            <a:endParaRPr lang="en-US" sz="3600" dirty="0"/>
          </a:p>
        </p:txBody>
      </p:sp>
      <p:sp>
        <p:nvSpPr>
          <p:cNvPr id="7" name="Closing grade circle 5th"/>
          <p:cNvSpPr/>
          <p:nvPr/>
        </p:nvSpPr>
        <p:spPr>
          <a:xfrm>
            <a:off x="8961120" y="3065069"/>
            <a:ext cx="1691640" cy="1691640"/>
          </a:xfrm>
          <a:prstGeom prst="ellipse">
            <a:avLst/>
          </a:prstGeom>
          <a:solidFill>
            <a:schemeClr val="accent6"/>
          </a:solidFill>
          <a:ln w="38100">
            <a:solidFill>
              <a:schemeClr val="bg2"/>
            </a:solidFill>
          </a:ln>
        </p:spPr>
        <p:txBody>
          <a:bodyPr wrap="square" lIns="0" tIns="0" rIns="0" bIns="0" rtlCol="0" anchor="ctr"/>
          <a:lstStyle/>
          <a:p>
            <a:pPr algn="ctr" indent="0" marL="0">
              <a:buNone/>
            </a:pPr>
            <a:r>
              <a:rPr lang="en-US" sz="3600" b="1" dirty="0">
                <a:solidFill>
                  <a:schemeClr val="bg1"/>
                </a:solidFill>
                <a:latin typeface="Cambria" pitchFamily="34" charset="0"/>
                <a:ea typeface="Cambria" pitchFamily="34" charset="-122"/>
                <a:cs typeface="Cambria" pitchFamily="34" charset="-120"/>
              </a:rPr>
              <a:t>5th</a:t>
            </a:r>
            <a:endParaRPr lang="en-US" sz="3600" dirty="0"/>
          </a:p>
        </p:txBody>
      </p:sp>
    </p:spTree>
  </p:cSld>
  <p:clrMapOvr>
    <a:masterClrMapping/>
  </p:clrMapOvr>
</p:sld>
</file>

<file path=ppt/theme/theme1.xml><?xml version="1.0" encoding="utf-8"?>
<a:theme xmlns:a="http://schemas.openxmlformats.org/drawingml/2006/main" name="Ticali Brief">
  <a:themeElements>
    <a:clrScheme name="Ticali Brief">
      <a:dk1>
        <a:srgbClr val="232634"/>
      </a:dk1>
      <a:lt1>
        <a:srgbClr val="FFFFFF"/>
      </a:lt1>
      <a:dk2>
        <a:srgbClr val="22403B"/>
      </a:dk2>
      <a:lt2>
        <a:srgbClr val="FAF5EA"/>
      </a:lt2>
      <a:accent1>
        <a:srgbClr val="2E7D74"/>
      </a:accent1>
      <a:accent2>
        <a:srgbClr val="B4532A"/>
      </a:accent2>
      <a:accent3>
        <a:srgbClr val="E3B04B"/>
      </a:accent3>
      <a:accent4>
        <a:srgbClr val="C2456B"/>
      </a:accent4>
      <a:accent5>
        <a:srgbClr val="2F78A6"/>
      </a:accent5>
      <a:accent6>
        <a:srgbClr val="C4631D"/>
      </a:accent6>
      <a:hlink>
        <a:srgbClr val="2E7D74"/>
      </a:hlink>
      <a:folHlink>
        <a:srgbClr val="6B5B8C"/>
      </a:folHlink>
    </a:clrScheme>
    <a:fontScheme name="Ticali Brief">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Ticali Trio: a brief for school leadership</dc:title>
  <dc:subject>A family-made practice game for kindergarten to 5th grade</dc:subject>
  <dc:creator>Parent</dc:creator>
  <cp:lastModifiedBy>Parent</cp:lastModifiedBy>
  <cp:revision>1</cp:revision>
  <dcterms:created xsi:type="dcterms:W3CDTF">2026-10-29T16:35:39Z</dcterms:created>
  <dcterms:modified xsi:type="dcterms:W3CDTF">2026-10-29T16:35:39Z</dcterms:modified>
</cp:coreProperties>
</file>